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4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5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6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8" r:id="rId2"/>
    <p:sldId id="276" r:id="rId3"/>
    <p:sldId id="287" r:id="rId4"/>
    <p:sldId id="288" r:id="rId5"/>
    <p:sldId id="293" r:id="rId6"/>
    <p:sldId id="303" r:id="rId7"/>
    <p:sldId id="312" r:id="rId8"/>
    <p:sldId id="313" r:id="rId9"/>
    <p:sldId id="292" r:id="rId10"/>
    <p:sldId id="27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924"/>
    <a:srgbClr val="C00000"/>
    <a:srgbClr val="FF3F3F"/>
    <a:srgbClr val="FFC1C1"/>
    <a:srgbClr val="FF6969"/>
    <a:srgbClr val="005CA1"/>
    <a:srgbClr val="B2B2B2"/>
    <a:srgbClr val="004A82"/>
    <a:srgbClr val="00355C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923" autoAdjust="0"/>
  </p:normalViewPr>
  <p:slideViewPr>
    <p:cSldViewPr snapToGrid="0" showGuides="1">
      <p:cViewPr varScale="1">
        <p:scale>
          <a:sx n="102" d="100"/>
          <a:sy n="102" d="100"/>
        </p:scale>
        <p:origin x="208" y="104"/>
      </p:cViewPr>
      <p:guideLst>
        <p:guide orient="horz" pos="2159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作者请关注公众号壹课。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作者请关注公众号壹课。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7F9E5-2C3F-427E-9E18-8DB1205C1BD4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notesSlide" Target="../notesSlides/notesSlide2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image" Target="../media/image6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5.png"/><Relationship Id="rId5" Type="http://schemas.openxmlformats.org/officeDocument/2006/relationships/tags" Target="../tags/tag31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30.xml"/><Relationship Id="rId9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image" Target="../media/image5.png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notesSlide" Target="../notesSlides/notesSlide4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39.xml"/><Relationship Id="rId15" Type="http://schemas.openxmlformats.org/officeDocument/2006/relationships/image" Target="../media/image8.png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tags" Target="../tags/tag57.xml"/><Relationship Id="rId18" Type="http://schemas.openxmlformats.org/officeDocument/2006/relationships/tags" Target="../tags/tag62.xml"/><Relationship Id="rId26" Type="http://schemas.openxmlformats.org/officeDocument/2006/relationships/notesSlide" Target="../notesSlides/notesSlide5.xml"/><Relationship Id="rId3" Type="http://schemas.openxmlformats.org/officeDocument/2006/relationships/tags" Target="../tags/tag47.xml"/><Relationship Id="rId21" Type="http://schemas.openxmlformats.org/officeDocument/2006/relationships/tags" Target="../tags/tag65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17" Type="http://schemas.openxmlformats.org/officeDocument/2006/relationships/tags" Target="../tags/tag61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6" Type="http://schemas.openxmlformats.org/officeDocument/2006/relationships/tags" Target="../tags/tag60.xml"/><Relationship Id="rId20" Type="http://schemas.openxmlformats.org/officeDocument/2006/relationships/tags" Target="../tags/tag64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24" Type="http://schemas.openxmlformats.org/officeDocument/2006/relationships/tags" Target="../tags/tag68.xml"/><Relationship Id="rId5" Type="http://schemas.openxmlformats.org/officeDocument/2006/relationships/tags" Target="../tags/tag49.xml"/><Relationship Id="rId15" Type="http://schemas.openxmlformats.org/officeDocument/2006/relationships/tags" Target="../tags/tag59.xml"/><Relationship Id="rId23" Type="http://schemas.openxmlformats.org/officeDocument/2006/relationships/tags" Target="../tags/tag67.xml"/><Relationship Id="rId10" Type="http://schemas.openxmlformats.org/officeDocument/2006/relationships/tags" Target="../tags/tag54.xml"/><Relationship Id="rId19" Type="http://schemas.openxmlformats.org/officeDocument/2006/relationships/tags" Target="../tags/tag63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Relationship Id="rId22" Type="http://schemas.openxmlformats.org/officeDocument/2006/relationships/tags" Target="../tags/tag66.xml"/><Relationship Id="rId27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image" Target="../media/image5.png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notesSlide" Target="../notesSlides/notesSlide6.xml"/><Relationship Id="rId2" Type="http://schemas.openxmlformats.org/officeDocument/2006/relationships/tags" Target="../tags/tag70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96.xml"/><Relationship Id="rId18" Type="http://schemas.openxmlformats.org/officeDocument/2006/relationships/tags" Target="../tags/tag101.xml"/><Relationship Id="rId26" Type="http://schemas.openxmlformats.org/officeDocument/2006/relationships/tags" Target="../tags/tag109.xml"/><Relationship Id="rId21" Type="http://schemas.openxmlformats.org/officeDocument/2006/relationships/tags" Target="../tags/tag104.xml"/><Relationship Id="rId34" Type="http://schemas.openxmlformats.org/officeDocument/2006/relationships/tags" Target="../tags/tag117.xml"/><Relationship Id="rId7" Type="http://schemas.openxmlformats.org/officeDocument/2006/relationships/tags" Target="../tags/tag90.xml"/><Relationship Id="rId12" Type="http://schemas.openxmlformats.org/officeDocument/2006/relationships/tags" Target="../tags/tag95.xml"/><Relationship Id="rId17" Type="http://schemas.openxmlformats.org/officeDocument/2006/relationships/tags" Target="../tags/tag100.xml"/><Relationship Id="rId25" Type="http://schemas.openxmlformats.org/officeDocument/2006/relationships/tags" Target="../tags/tag108.xml"/><Relationship Id="rId33" Type="http://schemas.openxmlformats.org/officeDocument/2006/relationships/tags" Target="../tags/tag116.xml"/><Relationship Id="rId38" Type="http://schemas.openxmlformats.org/officeDocument/2006/relationships/image" Target="../media/image5.png"/><Relationship Id="rId2" Type="http://schemas.openxmlformats.org/officeDocument/2006/relationships/tags" Target="../tags/tag85.xml"/><Relationship Id="rId16" Type="http://schemas.openxmlformats.org/officeDocument/2006/relationships/tags" Target="../tags/tag99.xml"/><Relationship Id="rId20" Type="http://schemas.openxmlformats.org/officeDocument/2006/relationships/tags" Target="../tags/tag103.xml"/><Relationship Id="rId29" Type="http://schemas.openxmlformats.org/officeDocument/2006/relationships/tags" Target="../tags/tag112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24" Type="http://schemas.openxmlformats.org/officeDocument/2006/relationships/tags" Target="../tags/tag107.xml"/><Relationship Id="rId32" Type="http://schemas.openxmlformats.org/officeDocument/2006/relationships/tags" Target="../tags/tag115.xml"/><Relationship Id="rId37" Type="http://schemas.openxmlformats.org/officeDocument/2006/relationships/slideLayout" Target="../slideLayouts/slideLayout2.xml"/><Relationship Id="rId5" Type="http://schemas.openxmlformats.org/officeDocument/2006/relationships/tags" Target="../tags/tag88.xml"/><Relationship Id="rId15" Type="http://schemas.openxmlformats.org/officeDocument/2006/relationships/tags" Target="../tags/tag98.xml"/><Relationship Id="rId23" Type="http://schemas.openxmlformats.org/officeDocument/2006/relationships/tags" Target="../tags/tag106.xml"/><Relationship Id="rId28" Type="http://schemas.openxmlformats.org/officeDocument/2006/relationships/tags" Target="../tags/tag111.xml"/><Relationship Id="rId36" Type="http://schemas.openxmlformats.org/officeDocument/2006/relationships/tags" Target="../tags/tag119.xml"/><Relationship Id="rId10" Type="http://schemas.openxmlformats.org/officeDocument/2006/relationships/tags" Target="../tags/tag93.xml"/><Relationship Id="rId19" Type="http://schemas.openxmlformats.org/officeDocument/2006/relationships/tags" Target="../tags/tag102.xml"/><Relationship Id="rId31" Type="http://schemas.openxmlformats.org/officeDocument/2006/relationships/tags" Target="../tags/tag114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tags" Target="../tags/tag97.xml"/><Relationship Id="rId22" Type="http://schemas.openxmlformats.org/officeDocument/2006/relationships/tags" Target="../tags/tag105.xml"/><Relationship Id="rId27" Type="http://schemas.openxmlformats.org/officeDocument/2006/relationships/tags" Target="../tags/tag110.xml"/><Relationship Id="rId30" Type="http://schemas.openxmlformats.org/officeDocument/2006/relationships/tags" Target="../tags/tag113.xml"/><Relationship Id="rId35" Type="http://schemas.openxmlformats.org/officeDocument/2006/relationships/tags" Target="../tags/tag118.xml"/><Relationship Id="rId8" Type="http://schemas.openxmlformats.org/officeDocument/2006/relationships/tags" Target="../tags/tag91.xml"/><Relationship Id="rId3" Type="http://schemas.openxmlformats.org/officeDocument/2006/relationships/tags" Target="../tags/tag8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11.png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tags" Target="../tags/tag131.xml"/><Relationship Id="rId17" Type="http://schemas.openxmlformats.org/officeDocument/2006/relationships/image" Target="../media/image10.png"/><Relationship Id="rId2" Type="http://schemas.openxmlformats.org/officeDocument/2006/relationships/tags" Target="../tags/tag121.xml"/><Relationship Id="rId16" Type="http://schemas.openxmlformats.org/officeDocument/2006/relationships/image" Target="../media/image9.png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tags" Target="../tags/tag130.xml"/><Relationship Id="rId5" Type="http://schemas.openxmlformats.org/officeDocument/2006/relationships/tags" Target="../tags/tag124.xml"/><Relationship Id="rId15" Type="http://schemas.openxmlformats.org/officeDocument/2006/relationships/image" Target="../media/image5.png"/><Relationship Id="rId10" Type="http://schemas.openxmlformats.org/officeDocument/2006/relationships/tags" Target="../tags/tag129.xml"/><Relationship Id="rId19" Type="http://schemas.openxmlformats.org/officeDocument/2006/relationships/image" Target="../media/image12.png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3" r="14726" b="48018"/>
          <a:stretch>
            <a:fillRect/>
          </a:stretch>
        </p:blipFill>
        <p:spPr>
          <a:xfrm>
            <a:off x="15050" y="5223309"/>
            <a:ext cx="5870824" cy="163468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0"/>
            <a:ext cx="12192000" cy="1634689"/>
          </a:xfrm>
          <a:prstGeom prst="rect">
            <a:avLst/>
          </a:prstGeom>
          <a:gradFill flip="none" rotWithShape="1">
            <a:gsLst>
              <a:gs pos="0">
                <a:srgbClr val="014924"/>
              </a:gs>
              <a:gs pos="51000">
                <a:srgbClr val="014924"/>
              </a:gs>
              <a:gs pos="80000">
                <a:srgbClr val="014924">
                  <a:alpha val="80000"/>
                </a:srgbClr>
              </a:gs>
              <a:gs pos="100000">
                <a:srgbClr val="014924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461862" y="3399117"/>
            <a:ext cx="726724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微博欺凌文本检测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461892" y="5804729"/>
            <a:ext cx="263894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汇报人：高斯杰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939" y="650634"/>
            <a:ext cx="1936392" cy="193081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315200" y="5804535"/>
            <a:ext cx="3878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组员：高斯杰、吴思源、张鸿霈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1"/>
            </p:custDataLst>
          </p:nvPr>
        </p:nvCxnSpPr>
        <p:spPr>
          <a:xfrm>
            <a:off x="4277437" y="1619962"/>
            <a:ext cx="7914563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5389226" y="1257300"/>
            <a:ext cx="976380" cy="767990"/>
            <a:chOff x="5389226" y="1257300"/>
            <a:chExt cx="976380" cy="767990"/>
          </a:xfrm>
        </p:grpSpPr>
        <p:sp>
          <p:nvSpPr>
            <p:cNvPr id="11" name="矩形 10"/>
            <p:cNvSpPr/>
            <p:nvPr>
              <p:custDataLst>
                <p:tags r:id="rId25"/>
              </p:custDataLst>
            </p:nvPr>
          </p:nvSpPr>
          <p:spPr>
            <a:xfrm>
              <a:off x="5493421" y="1257300"/>
              <a:ext cx="767990" cy="76799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/>
            <p:cNvSpPr txBox="1"/>
            <p:nvPr>
              <p:custDataLst>
                <p:tags r:id="rId26"/>
              </p:custDataLst>
            </p:nvPr>
          </p:nvSpPr>
          <p:spPr>
            <a:xfrm>
              <a:off x="5389226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3"/>
            </p:custDataLst>
          </p:nvPr>
        </p:nvGrpSpPr>
        <p:grpSpPr>
          <a:xfrm>
            <a:off x="7767862" y="1257300"/>
            <a:ext cx="976380" cy="767990"/>
            <a:chOff x="7767862" y="1257300"/>
            <a:chExt cx="976380" cy="767990"/>
          </a:xfrm>
        </p:grpSpPr>
        <p:sp>
          <p:nvSpPr>
            <p:cNvPr id="12" name="矩形 11"/>
            <p:cNvSpPr/>
            <p:nvPr>
              <p:custDataLst>
                <p:tags r:id="rId23"/>
              </p:custDataLst>
            </p:nvPr>
          </p:nvSpPr>
          <p:spPr>
            <a:xfrm>
              <a:off x="7850724" y="1257300"/>
              <a:ext cx="767990" cy="76799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文本框 17"/>
            <p:cNvSpPr txBox="1"/>
            <p:nvPr>
              <p:custDataLst>
                <p:tags r:id="rId24"/>
              </p:custDataLst>
            </p:nvPr>
          </p:nvSpPr>
          <p:spPr>
            <a:xfrm>
              <a:off x="7767862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4"/>
            </p:custDataLst>
          </p:nvPr>
        </p:nvGrpSpPr>
        <p:grpSpPr>
          <a:xfrm>
            <a:off x="10178497" y="1257300"/>
            <a:ext cx="976380" cy="767990"/>
            <a:chOff x="10178497" y="1257300"/>
            <a:chExt cx="976380" cy="767990"/>
          </a:xfrm>
        </p:grpSpPr>
        <p:sp>
          <p:nvSpPr>
            <p:cNvPr id="13" name="矩形 12"/>
            <p:cNvSpPr/>
            <p:nvPr>
              <p:custDataLst>
                <p:tags r:id="rId21"/>
              </p:custDataLst>
            </p:nvPr>
          </p:nvSpPr>
          <p:spPr>
            <a:xfrm>
              <a:off x="10282692" y="1257300"/>
              <a:ext cx="767990" cy="76799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>
              <p:custDataLst>
                <p:tags r:id="rId22"/>
              </p:custDataLst>
            </p:nvPr>
          </p:nvSpPr>
          <p:spPr>
            <a:xfrm>
              <a:off x="10178497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5430304" y="2249325"/>
            <a:ext cx="8928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7467477" y="2273152"/>
            <a:ext cx="19596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数据预处理</a:t>
            </a: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9874555" y="2264657"/>
            <a:ext cx="16040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特征工程</a:t>
            </a:r>
          </a:p>
        </p:txBody>
      </p:sp>
      <p:cxnSp>
        <p:nvCxnSpPr>
          <p:cNvPr id="30" name="直接连接符 29"/>
          <p:cNvCxnSpPr/>
          <p:nvPr>
            <p:custDataLst>
              <p:tags r:id="rId8"/>
            </p:custDataLst>
          </p:nvPr>
        </p:nvCxnSpPr>
        <p:spPr>
          <a:xfrm>
            <a:off x="1738117" y="4610812"/>
            <a:ext cx="7914563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>
            <p:custDataLst>
              <p:tags r:id="rId9"/>
            </p:custDataLst>
          </p:nvPr>
        </p:nvGrpSpPr>
        <p:grpSpPr>
          <a:xfrm>
            <a:off x="2811806" y="4248150"/>
            <a:ext cx="976380" cy="767990"/>
            <a:chOff x="2811806" y="4248150"/>
            <a:chExt cx="976380" cy="767990"/>
          </a:xfrm>
        </p:grpSpPr>
        <p:sp>
          <p:nvSpPr>
            <p:cNvPr id="31" name="矩形 30"/>
            <p:cNvSpPr/>
            <p:nvPr>
              <p:custDataLst>
                <p:tags r:id="rId19"/>
              </p:custDataLst>
            </p:nvPr>
          </p:nvSpPr>
          <p:spPr>
            <a:xfrm>
              <a:off x="2916001" y="4248150"/>
              <a:ext cx="767990" cy="76799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>
              <p:custDataLst>
                <p:tags r:id="rId20"/>
              </p:custDataLst>
            </p:nvPr>
          </p:nvSpPr>
          <p:spPr>
            <a:xfrm>
              <a:off x="2811806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0"/>
            </p:custDataLst>
          </p:nvPr>
        </p:nvGrpSpPr>
        <p:grpSpPr>
          <a:xfrm>
            <a:off x="5190442" y="4248150"/>
            <a:ext cx="976380" cy="767990"/>
            <a:chOff x="5190442" y="4248150"/>
            <a:chExt cx="976380" cy="767990"/>
          </a:xfrm>
        </p:grpSpPr>
        <p:sp>
          <p:nvSpPr>
            <p:cNvPr id="32" name="矩形 31"/>
            <p:cNvSpPr/>
            <p:nvPr>
              <p:custDataLst>
                <p:tags r:id="rId17"/>
              </p:custDataLst>
            </p:nvPr>
          </p:nvSpPr>
          <p:spPr>
            <a:xfrm>
              <a:off x="5273304" y="4248150"/>
              <a:ext cx="767990" cy="76799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文本框 34"/>
            <p:cNvSpPr txBox="1"/>
            <p:nvPr>
              <p:custDataLst>
                <p:tags r:id="rId18"/>
              </p:custDataLst>
            </p:nvPr>
          </p:nvSpPr>
          <p:spPr>
            <a:xfrm>
              <a:off x="5190442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1"/>
            </p:custDataLst>
          </p:nvPr>
        </p:nvGrpSpPr>
        <p:grpSpPr>
          <a:xfrm>
            <a:off x="7601077" y="4248150"/>
            <a:ext cx="976380" cy="767990"/>
            <a:chOff x="7601077" y="4248150"/>
            <a:chExt cx="976380" cy="767990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7705272" y="4248150"/>
              <a:ext cx="767990" cy="76799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>
              <p:custDataLst>
                <p:tags r:id="rId16"/>
              </p:custDataLst>
            </p:nvPr>
          </p:nvSpPr>
          <p:spPr>
            <a:xfrm>
              <a:off x="7601077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 rot="5400000">
            <a:off x="-2611658" y="2611657"/>
            <a:ext cx="6858001" cy="1634689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rot="5400000">
            <a:off x="-1663229" y="3390448"/>
            <a:ext cx="6858001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12"/>
            </p:custDataLst>
          </p:nvPr>
        </p:nvSpPr>
        <p:spPr>
          <a:xfrm>
            <a:off x="7278793" y="5233301"/>
            <a:ext cx="16040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/>
              <a:t>实验结果</a:t>
            </a:r>
          </a:p>
        </p:txBody>
      </p:sp>
      <p:sp>
        <p:nvSpPr>
          <p:cNvPr id="43" name="文本框 42"/>
          <p:cNvSpPr txBox="1"/>
          <p:nvPr>
            <p:custDataLst>
              <p:tags r:id="rId13"/>
            </p:custDataLst>
          </p:nvPr>
        </p:nvSpPr>
        <p:spPr>
          <a:xfrm>
            <a:off x="2297416" y="5226939"/>
            <a:ext cx="19596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/>
              <a:t>分类器选择</a:t>
            </a:r>
          </a:p>
        </p:txBody>
      </p:sp>
      <p:sp>
        <p:nvSpPr>
          <p:cNvPr id="45" name="文本框 44"/>
          <p:cNvSpPr txBox="1"/>
          <p:nvPr>
            <p:custDataLst>
              <p:tags r:id="rId14"/>
            </p:custDataLst>
          </p:nvPr>
        </p:nvSpPr>
        <p:spPr>
          <a:xfrm>
            <a:off x="4845088" y="5240174"/>
            <a:ext cx="16040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/>
              <a:t>融合语义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27377" y="247904"/>
            <a:ext cx="1015663" cy="17589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1167" y="144940"/>
            <a:ext cx="99441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753235" y="217805"/>
            <a:ext cx="10927715" cy="439420"/>
            <a:chOff x="2584397" y="217491"/>
            <a:chExt cx="10096500" cy="439541"/>
          </a:xfrm>
        </p:grpSpPr>
        <p:sp>
          <p:nvSpPr>
            <p:cNvPr id="10" name="圆角矩形 9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7392256" y="1239440"/>
            <a:ext cx="4022997" cy="390343"/>
            <a:chOff x="7797588" y="2225421"/>
            <a:chExt cx="3480011" cy="370536"/>
          </a:xfrm>
          <a:solidFill>
            <a:srgbClr val="C00000"/>
          </a:solidFill>
        </p:grpSpPr>
        <p:sp>
          <p:nvSpPr>
            <p:cNvPr id="18" name="矩形 17"/>
            <p:cNvSpPr/>
            <p:nvPr>
              <p:custDataLst>
                <p:tags r:id="rId7"/>
              </p:custDataLst>
            </p:nvPr>
          </p:nvSpPr>
          <p:spPr>
            <a:xfrm>
              <a:off x="7797588" y="2225421"/>
              <a:ext cx="3480011" cy="36000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>
              <p:custDataLst>
                <p:tags r:id="rId8"/>
              </p:custDataLst>
            </p:nvPr>
          </p:nvSpPr>
          <p:spPr>
            <a:xfrm>
              <a:off x="7797588" y="2228927"/>
              <a:ext cx="967851" cy="36703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心理伤害</a:t>
              </a:r>
            </a:p>
          </p:txBody>
        </p:sp>
      </p:grpSp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7310101" y="1693504"/>
            <a:ext cx="4055874" cy="189551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chemeClr val="bg1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" panose="020B0400000000000000" charset="-122"/>
                <a:sym typeface="+mn-ea"/>
              </a:rPr>
              <a:t>网络欺凌如辱骂、歧视性评论，可能导致受害者出现焦虑、抑郁甚至极端行为，尤其对青少年和弱势群体影响更大。通过检测恶意评论能帮助识别和过滤这些有害内容，减轻对受害者的心理伤害。</a:t>
            </a:r>
          </a:p>
        </p:txBody>
      </p:sp>
      <p:grpSp>
        <p:nvGrpSpPr>
          <p:cNvPr id="22" name="组合 21"/>
          <p:cNvGrpSpPr/>
          <p:nvPr>
            <p:custDataLst>
              <p:tags r:id="rId3"/>
            </p:custDataLst>
          </p:nvPr>
        </p:nvGrpSpPr>
        <p:grpSpPr>
          <a:xfrm>
            <a:off x="7433344" y="3933990"/>
            <a:ext cx="3940819" cy="367030"/>
            <a:chOff x="7797588" y="2232931"/>
            <a:chExt cx="3480011" cy="367030"/>
          </a:xfrm>
          <a:solidFill>
            <a:srgbClr val="C00000"/>
          </a:solidFill>
        </p:grpSpPr>
        <p:sp>
          <p:nvSpPr>
            <p:cNvPr id="23" name="矩形 22"/>
            <p:cNvSpPr/>
            <p:nvPr>
              <p:custDataLst>
                <p:tags r:id="rId5"/>
              </p:custDataLst>
            </p:nvPr>
          </p:nvSpPr>
          <p:spPr>
            <a:xfrm>
              <a:off x="7797588" y="2232931"/>
              <a:ext cx="3480011" cy="36000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>
              <p:custDataLst>
                <p:tags r:id="rId6"/>
              </p:custDataLst>
            </p:nvPr>
          </p:nvSpPr>
          <p:spPr>
            <a:xfrm>
              <a:off x="7797588" y="2232931"/>
              <a:ext cx="967851" cy="36703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社会影响</a:t>
              </a:r>
            </a:p>
          </p:txBody>
        </p:sp>
      </p:grpSp>
      <p:sp>
        <p:nvSpPr>
          <p:cNvPr id="25" name="矩形 24"/>
          <p:cNvSpPr/>
          <p:nvPr>
            <p:custDataLst>
              <p:tags r:id="rId4"/>
            </p:custDataLst>
          </p:nvPr>
        </p:nvSpPr>
        <p:spPr>
          <a:xfrm>
            <a:off x="7310100" y="4451656"/>
            <a:ext cx="4055875" cy="2084797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l">
              <a:lnSpc>
                <a:spcPct val="14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chemeClr val="bg1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" panose="020B0400000000000000" charset="-122"/>
                <a:sym typeface="+mn-ea"/>
              </a:rPr>
              <a:t>网络欺凌常针对特定群体，可能引发群体性争议或网络暴力，破坏网络社区的信任和凝聚力</a:t>
            </a:r>
            <a:r>
              <a:rPr kumimoji="1" lang="en-US" altLang="zh-CN" sz="1600" dirty="0">
                <a:ln w="12700">
                  <a:noFill/>
                </a:ln>
                <a:solidFill>
                  <a:schemeClr val="bg1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" panose="020B0400000000000000" charset="-122"/>
                <a:sym typeface="+mn-ea"/>
              </a:rPr>
              <a:t>。</a:t>
            </a:r>
            <a:r>
              <a:rPr kumimoji="1" lang="zh-CN" altLang="en-US" sz="1600" dirty="0">
                <a:ln w="12700">
                  <a:noFill/>
                </a:ln>
                <a:solidFill>
                  <a:schemeClr val="bg1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" panose="020B0400000000000000" charset="-122"/>
                <a:sym typeface="+mn-ea"/>
              </a:rPr>
              <a:t>其还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bg1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" panose="020B0400000000000000" charset="-122"/>
                <a:sym typeface="+mn-ea"/>
              </a:rPr>
              <a:t>可能在短时间内引发广泛传播（如热门话题下的恶意评论</a:t>
            </a:r>
            <a:r>
              <a:rPr kumimoji="1" lang="en-US" altLang="zh-CN" sz="1600" dirty="0">
                <a:ln w="12700">
                  <a:noFill/>
                </a:ln>
                <a:solidFill>
                  <a:schemeClr val="bg1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" panose="020B0400000000000000" charset="-122"/>
                <a:sym typeface="+mn-ea"/>
              </a:rPr>
              <a:t>），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bg1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" panose="020B0400000000000000" charset="-122"/>
                <a:sym typeface="+mn-ea"/>
              </a:rPr>
              <a:t>需要快速检测和干预</a:t>
            </a:r>
            <a:r>
              <a:rPr kumimoji="1" lang="en-US" altLang="zh-CN" sz="1600" dirty="0">
                <a:ln w="12700">
                  <a:noFill/>
                </a:ln>
                <a:solidFill>
                  <a:schemeClr val="bg1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" panose="020B0400000000000000" charset="-122"/>
                <a:sym typeface="+mn-ea"/>
              </a:rPr>
              <a:t>。</a:t>
            </a:r>
            <a:endParaRPr kumimoji="1" lang="zh-CN" altLang="en-US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40000"/>
              </a:lnSpc>
            </a:pP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12"/>
          <a:stretch>
            <a:fillRect/>
          </a:stretch>
        </p:blipFill>
        <p:spPr>
          <a:xfrm>
            <a:off x="239395" y="1011555"/>
            <a:ext cx="6939280" cy="48348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221361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915285" y="217805"/>
            <a:ext cx="9765665" cy="439420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927569" y="1702764"/>
            <a:ext cx="1210580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</a:t>
            </a:r>
          </a:p>
        </p:txBody>
      </p:sp>
      <p:sp>
        <p:nvSpPr>
          <p:cNvPr id="23" name="矩形 22"/>
          <p:cNvSpPr/>
          <p:nvPr/>
        </p:nvSpPr>
        <p:spPr>
          <a:xfrm>
            <a:off x="2927569" y="2102869"/>
            <a:ext cx="7906871" cy="1289901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 err="1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数据来源于Github</a:t>
            </a:r>
            <a:r>
              <a:rPr kumimoji="1" lang="en-US" altLang="zh-CN" dirty="0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——BullyDataset，为从新浪微博评论中收集的中文微博评论数据集。该数据集用于网络欺凌检测，如果出现性别歧视、种族或地理诽谤等情况将被视为欺凌。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1066800" y="3813085"/>
            <a:ext cx="10058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1178004" y="1853852"/>
            <a:ext cx="1411409" cy="1353803"/>
            <a:chOff x="1355698" y="1973940"/>
            <a:chExt cx="1233715" cy="1233715"/>
          </a:xfrm>
        </p:grpSpPr>
        <p:sp>
          <p:nvSpPr>
            <p:cNvPr id="10" name="矩形 9"/>
            <p:cNvSpPr/>
            <p:nvPr/>
          </p:nvSpPr>
          <p:spPr>
            <a:xfrm>
              <a:off x="1355698" y="1973940"/>
              <a:ext cx="1233715" cy="1233715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1602173" y="2200868"/>
              <a:ext cx="700214" cy="758777"/>
            </a:xfrm>
            <a:custGeom>
              <a:avLst/>
              <a:gdLst>
                <a:gd name="T0" fmla="*/ 166 w 275"/>
                <a:gd name="T1" fmla="*/ 0 h 298"/>
                <a:gd name="T2" fmla="*/ 249 w 275"/>
                <a:gd name="T3" fmla="*/ 49 h 298"/>
                <a:gd name="T4" fmla="*/ 156 w 275"/>
                <a:gd name="T5" fmla="*/ 204 h 298"/>
                <a:gd name="T6" fmla="*/ 112 w 275"/>
                <a:gd name="T7" fmla="*/ 230 h 298"/>
                <a:gd name="T8" fmla="*/ 69 w 275"/>
                <a:gd name="T9" fmla="*/ 233 h 298"/>
                <a:gd name="T10" fmla="*/ 73 w 275"/>
                <a:gd name="T11" fmla="*/ 153 h 298"/>
                <a:gd name="T12" fmla="*/ 166 w 275"/>
                <a:gd name="T13" fmla="*/ 0 h 298"/>
                <a:gd name="T14" fmla="*/ 166 w 275"/>
                <a:gd name="T15" fmla="*/ 0 h 298"/>
                <a:gd name="T16" fmla="*/ 246 w 275"/>
                <a:gd name="T17" fmla="*/ 293 h 298"/>
                <a:gd name="T18" fmla="*/ 251 w 275"/>
                <a:gd name="T19" fmla="*/ 264 h 298"/>
                <a:gd name="T20" fmla="*/ 161 w 275"/>
                <a:gd name="T21" fmla="*/ 262 h 298"/>
                <a:gd name="T22" fmla="*/ 275 w 275"/>
                <a:gd name="T23" fmla="*/ 255 h 298"/>
                <a:gd name="T24" fmla="*/ 273 w 275"/>
                <a:gd name="T25" fmla="*/ 242 h 298"/>
                <a:gd name="T26" fmla="*/ 241 w 275"/>
                <a:gd name="T27" fmla="*/ 240 h 298"/>
                <a:gd name="T28" fmla="*/ 273 w 275"/>
                <a:gd name="T29" fmla="*/ 235 h 298"/>
                <a:gd name="T30" fmla="*/ 261 w 275"/>
                <a:gd name="T31" fmla="*/ 211 h 298"/>
                <a:gd name="T32" fmla="*/ 178 w 275"/>
                <a:gd name="T33" fmla="*/ 201 h 298"/>
                <a:gd name="T34" fmla="*/ 176 w 275"/>
                <a:gd name="T35" fmla="*/ 226 h 298"/>
                <a:gd name="T36" fmla="*/ 212 w 275"/>
                <a:gd name="T37" fmla="*/ 233 h 298"/>
                <a:gd name="T38" fmla="*/ 0 w 275"/>
                <a:gd name="T39" fmla="*/ 242 h 298"/>
                <a:gd name="T40" fmla="*/ 3 w 275"/>
                <a:gd name="T41" fmla="*/ 264 h 298"/>
                <a:gd name="T42" fmla="*/ 139 w 275"/>
                <a:gd name="T43" fmla="*/ 281 h 298"/>
                <a:gd name="T44" fmla="*/ 86 w 275"/>
                <a:gd name="T45" fmla="*/ 281 h 298"/>
                <a:gd name="T46" fmla="*/ 88 w 275"/>
                <a:gd name="T47" fmla="*/ 298 h 298"/>
                <a:gd name="T48" fmla="*/ 246 w 275"/>
                <a:gd name="T49" fmla="*/ 293 h 298"/>
                <a:gd name="T50" fmla="*/ 246 w 275"/>
                <a:gd name="T51" fmla="*/ 293 h 298"/>
                <a:gd name="T52" fmla="*/ 107 w 275"/>
                <a:gd name="T53" fmla="*/ 213 h 298"/>
                <a:gd name="T54" fmla="*/ 139 w 275"/>
                <a:gd name="T55" fmla="*/ 194 h 298"/>
                <a:gd name="T56" fmla="*/ 88 w 275"/>
                <a:gd name="T57" fmla="*/ 162 h 298"/>
                <a:gd name="T58" fmla="*/ 86 w 275"/>
                <a:gd name="T59" fmla="*/ 201 h 298"/>
                <a:gd name="T60" fmla="*/ 107 w 275"/>
                <a:gd name="T61" fmla="*/ 213 h 298"/>
                <a:gd name="T62" fmla="*/ 107 w 275"/>
                <a:gd name="T63" fmla="*/ 213 h 298"/>
                <a:gd name="T64" fmla="*/ 219 w 275"/>
                <a:gd name="T65" fmla="*/ 49 h 298"/>
                <a:gd name="T66" fmla="*/ 144 w 275"/>
                <a:gd name="T67" fmla="*/ 172 h 298"/>
                <a:gd name="T68" fmla="*/ 154 w 275"/>
                <a:gd name="T69" fmla="*/ 177 h 298"/>
                <a:gd name="T70" fmla="*/ 229 w 275"/>
                <a:gd name="T71" fmla="*/ 53 h 298"/>
                <a:gd name="T72" fmla="*/ 219 w 275"/>
                <a:gd name="T73" fmla="*/ 49 h 298"/>
                <a:gd name="T74" fmla="*/ 219 w 275"/>
                <a:gd name="T75" fmla="*/ 49 h 298"/>
                <a:gd name="T76" fmla="*/ 173 w 275"/>
                <a:gd name="T77" fmla="*/ 20 h 298"/>
                <a:gd name="T78" fmla="*/ 98 w 275"/>
                <a:gd name="T79" fmla="*/ 143 h 298"/>
                <a:gd name="T80" fmla="*/ 115 w 275"/>
                <a:gd name="T81" fmla="*/ 153 h 298"/>
                <a:gd name="T82" fmla="*/ 190 w 275"/>
                <a:gd name="T83" fmla="*/ 29 h 298"/>
                <a:gd name="T84" fmla="*/ 173 w 275"/>
                <a:gd name="T85" fmla="*/ 2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5" h="298">
                  <a:moveTo>
                    <a:pt x="166" y="0"/>
                  </a:moveTo>
                  <a:lnTo>
                    <a:pt x="249" y="49"/>
                  </a:lnTo>
                  <a:lnTo>
                    <a:pt x="156" y="204"/>
                  </a:lnTo>
                  <a:lnTo>
                    <a:pt x="112" y="230"/>
                  </a:lnTo>
                  <a:lnTo>
                    <a:pt x="69" y="233"/>
                  </a:lnTo>
                  <a:lnTo>
                    <a:pt x="73" y="153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246" y="293"/>
                  </a:moveTo>
                  <a:lnTo>
                    <a:pt x="251" y="264"/>
                  </a:lnTo>
                  <a:lnTo>
                    <a:pt x="161" y="262"/>
                  </a:lnTo>
                  <a:lnTo>
                    <a:pt x="275" y="255"/>
                  </a:lnTo>
                  <a:lnTo>
                    <a:pt x="273" y="242"/>
                  </a:lnTo>
                  <a:lnTo>
                    <a:pt x="241" y="240"/>
                  </a:lnTo>
                  <a:lnTo>
                    <a:pt x="273" y="235"/>
                  </a:lnTo>
                  <a:lnTo>
                    <a:pt x="261" y="211"/>
                  </a:lnTo>
                  <a:lnTo>
                    <a:pt x="178" y="201"/>
                  </a:lnTo>
                  <a:lnTo>
                    <a:pt x="176" y="226"/>
                  </a:lnTo>
                  <a:lnTo>
                    <a:pt x="212" y="233"/>
                  </a:lnTo>
                  <a:lnTo>
                    <a:pt x="0" y="242"/>
                  </a:lnTo>
                  <a:lnTo>
                    <a:pt x="3" y="264"/>
                  </a:lnTo>
                  <a:lnTo>
                    <a:pt x="139" y="281"/>
                  </a:lnTo>
                  <a:lnTo>
                    <a:pt x="86" y="281"/>
                  </a:lnTo>
                  <a:lnTo>
                    <a:pt x="88" y="298"/>
                  </a:lnTo>
                  <a:lnTo>
                    <a:pt x="246" y="293"/>
                  </a:lnTo>
                  <a:lnTo>
                    <a:pt x="246" y="293"/>
                  </a:lnTo>
                  <a:close/>
                  <a:moveTo>
                    <a:pt x="107" y="213"/>
                  </a:moveTo>
                  <a:lnTo>
                    <a:pt x="139" y="194"/>
                  </a:lnTo>
                  <a:lnTo>
                    <a:pt x="88" y="162"/>
                  </a:lnTo>
                  <a:lnTo>
                    <a:pt x="86" y="201"/>
                  </a:lnTo>
                  <a:lnTo>
                    <a:pt x="107" y="213"/>
                  </a:lnTo>
                  <a:lnTo>
                    <a:pt x="107" y="213"/>
                  </a:lnTo>
                  <a:close/>
                  <a:moveTo>
                    <a:pt x="219" y="49"/>
                  </a:moveTo>
                  <a:lnTo>
                    <a:pt x="144" y="172"/>
                  </a:lnTo>
                  <a:lnTo>
                    <a:pt x="154" y="177"/>
                  </a:lnTo>
                  <a:lnTo>
                    <a:pt x="229" y="53"/>
                  </a:lnTo>
                  <a:lnTo>
                    <a:pt x="219" y="49"/>
                  </a:lnTo>
                  <a:lnTo>
                    <a:pt x="219" y="49"/>
                  </a:lnTo>
                  <a:close/>
                  <a:moveTo>
                    <a:pt x="173" y="20"/>
                  </a:moveTo>
                  <a:lnTo>
                    <a:pt x="98" y="143"/>
                  </a:lnTo>
                  <a:lnTo>
                    <a:pt x="115" y="153"/>
                  </a:lnTo>
                  <a:lnTo>
                    <a:pt x="190" y="29"/>
                  </a:lnTo>
                  <a:lnTo>
                    <a:pt x="173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baseline="-25000"/>
            </a:p>
          </p:txBody>
        </p:sp>
      </p:grpSp>
      <p:grpSp>
        <p:nvGrpSpPr>
          <p:cNvPr id="20" name="组合 19"/>
          <p:cNvGrpSpPr/>
          <p:nvPr>
            <p:custDataLst>
              <p:tags r:id="rId1"/>
            </p:custDataLst>
          </p:nvPr>
        </p:nvGrpSpPr>
        <p:grpSpPr>
          <a:xfrm>
            <a:off x="701167" y="4750965"/>
            <a:ext cx="3273101" cy="1346903"/>
            <a:chOff x="4638706" y="4756609"/>
            <a:chExt cx="3273101" cy="1346903"/>
          </a:xfrm>
        </p:grpSpPr>
        <p:grpSp>
          <p:nvGrpSpPr>
            <p:cNvPr id="35" name="组合 34"/>
            <p:cNvGrpSpPr/>
            <p:nvPr/>
          </p:nvGrpSpPr>
          <p:grpSpPr>
            <a:xfrm>
              <a:off x="4638706" y="4756609"/>
              <a:ext cx="3273101" cy="1346903"/>
              <a:chOff x="4832503" y="4473506"/>
              <a:chExt cx="3273101" cy="1346903"/>
            </a:xfrm>
          </p:grpSpPr>
          <p:sp>
            <p:nvSpPr>
              <p:cNvPr id="28" name="矩形 27"/>
              <p:cNvSpPr>
                <a:spLocks noChangeAspec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4832503" y="4925137"/>
                <a:ext cx="720000" cy="720000"/>
              </a:xfrm>
              <a:prstGeom prst="rect">
                <a:avLst/>
              </a:prstGeom>
              <a:solidFill>
                <a:srgbClr val="0149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>
                <p:custDataLst>
                  <p:tags r:id="rId10"/>
                </p:custDataLst>
              </p:nvPr>
            </p:nvSpPr>
            <p:spPr>
              <a:xfrm>
                <a:off x="5665862" y="4473506"/>
                <a:ext cx="2439742" cy="1346903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zh-CN" sz="1400" dirty="0" err="1">
                    <a:ln w="12700">
                      <a:noFill/>
                    </a:ln>
                    <a:solidFill>
                      <a:schemeClr val="bg2">
                        <a:lumMod val="50000"/>
                        <a:alpha val="10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通过少数服从多数的原则</a:t>
                </a: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将原始数据中的</a:t>
                </a:r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 </a:t>
                </a:r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</a:t>
                </a: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评论 </a:t>
                </a:r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</a:t>
                </a: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三位标注</a:t>
                </a:r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处理为标准的</a:t>
                </a:r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一位标注 </a:t>
                </a:r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</a:t>
                </a: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评论</a:t>
                </a:r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格式</a:t>
                </a:r>
                <a:endParaRPr kumimoji="1" lang="en-US" altLang="zh-CN" sz="1400" dirty="0">
                  <a:ln w="12700">
                    <a:noFill/>
                  </a:ln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" panose="020B0400000000000000" charset="-122"/>
                  <a:sym typeface="+mn-ea"/>
                </a:endParaRPr>
              </a:p>
            </p:txBody>
          </p:sp>
        </p:grpSp>
        <p:grpSp>
          <p:nvGrpSpPr>
            <p:cNvPr id="21" name="Group 14"/>
            <p:cNvGrpSpPr>
              <a:grpSpLocks noChangeAspect="1"/>
            </p:cNvGrpSpPr>
            <p:nvPr/>
          </p:nvGrpSpPr>
          <p:grpSpPr bwMode="auto">
            <a:xfrm>
              <a:off x="4775712" y="5398725"/>
              <a:ext cx="449018" cy="361422"/>
              <a:chOff x="3535" y="1916"/>
              <a:chExt cx="610" cy="491"/>
            </a:xfrm>
          </p:grpSpPr>
          <p:sp>
            <p:nvSpPr>
              <p:cNvPr id="25" name="AutoShape 13"/>
              <p:cNvSpPr>
                <a:spLocks noChangeAspect="1" noChangeArrowheads="1" noTextEdit="1"/>
              </p:cNvSpPr>
              <p:nvPr/>
            </p:nvSpPr>
            <p:spPr bwMode="auto">
              <a:xfrm>
                <a:off x="3535" y="1916"/>
                <a:ext cx="610" cy="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5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3537" y="2033"/>
                <a:ext cx="436" cy="374"/>
              </a:xfrm>
              <a:custGeom>
                <a:avLst/>
                <a:gdLst>
                  <a:gd name="T0" fmla="*/ 46 w 436"/>
                  <a:gd name="T1" fmla="*/ 374 h 374"/>
                  <a:gd name="T2" fmla="*/ 125 w 436"/>
                  <a:gd name="T3" fmla="*/ 292 h 374"/>
                  <a:gd name="T4" fmla="*/ 436 w 436"/>
                  <a:gd name="T5" fmla="*/ 292 h 374"/>
                  <a:gd name="T6" fmla="*/ 436 w 436"/>
                  <a:gd name="T7" fmla="*/ 204 h 374"/>
                  <a:gd name="T8" fmla="*/ 154 w 436"/>
                  <a:gd name="T9" fmla="*/ 204 h 374"/>
                  <a:gd name="T10" fmla="*/ 137 w 436"/>
                  <a:gd name="T11" fmla="*/ 204 h 374"/>
                  <a:gd name="T12" fmla="*/ 137 w 436"/>
                  <a:gd name="T13" fmla="*/ 189 h 374"/>
                  <a:gd name="T14" fmla="*/ 137 w 436"/>
                  <a:gd name="T15" fmla="*/ 0 h 374"/>
                  <a:gd name="T16" fmla="*/ 0 w 436"/>
                  <a:gd name="T17" fmla="*/ 0 h 374"/>
                  <a:gd name="T18" fmla="*/ 0 w 436"/>
                  <a:gd name="T19" fmla="*/ 292 h 374"/>
                  <a:gd name="T20" fmla="*/ 46 w 436"/>
                  <a:gd name="T21" fmla="*/ 292 h 374"/>
                  <a:gd name="T22" fmla="*/ 46 w 436"/>
                  <a:gd name="T23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6" h="374">
                    <a:moveTo>
                      <a:pt x="46" y="374"/>
                    </a:moveTo>
                    <a:lnTo>
                      <a:pt x="125" y="292"/>
                    </a:lnTo>
                    <a:lnTo>
                      <a:pt x="436" y="292"/>
                    </a:lnTo>
                    <a:lnTo>
                      <a:pt x="436" y="204"/>
                    </a:lnTo>
                    <a:lnTo>
                      <a:pt x="154" y="204"/>
                    </a:lnTo>
                    <a:lnTo>
                      <a:pt x="137" y="204"/>
                    </a:lnTo>
                    <a:lnTo>
                      <a:pt x="137" y="189"/>
                    </a:lnTo>
                    <a:lnTo>
                      <a:pt x="137" y="0"/>
                    </a:lnTo>
                    <a:lnTo>
                      <a:pt x="0" y="0"/>
                    </a:lnTo>
                    <a:lnTo>
                      <a:pt x="0" y="292"/>
                    </a:lnTo>
                    <a:lnTo>
                      <a:pt x="46" y="292"/>
                    </a:lnTo>
                    <a:lnTo>
                      <a:pt x="46" y="37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6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691" y="1919"/>
                <a:ext cx="452" cy="390"/>
              </a:xfrm>
              <a:custGeom>
                <a:avLst/>
                <a:gdLst>
                  <a:gd name="T0" fmla="*/ 136 w 189"/>
                  <a:gd name="T1" fmla="*/ 126 h 163"/>
                  <a:gd name="T2" fmla="*/ 168 w 189"/>
                  <a:gd name="T3" fmla="*/ 163 h 163"/>
                  <a:gd name="T4" fmla="*/ 168 w 189"/>
                  <a:gd name="T5" fmla="*/ 126 h 163"/>
                  <a:gd name="T6" fmla="*/ 189 w 189"/>
                  <a:gd name="T7" fmla="*/ 126 h 163"/>
                  <a:gd name="T8" fmla="*/ 189 w 189"/>
                  <a:gd name="T9" fmla="*/ 0 h 163"/>
                  <a:gd name="T10" fmla="*/ 0 w 189"/>
                  <a:gd name="T11" fmla="*/ 0 h 163"/>
                  <a:gd name="T12" fmla="*/ 0 w 189"/>
                  <a:gd name="T13" fmla="*/ 48 h 163"/>
                  <a:gd name="T14" fmla="*/ 0 w 189"/>
                  <a:gd name="T15" fmla="*/ 126 h 163"/>
                  <a:gd name="T16" fmla="*/ 118 w 189"/>
                  <a:gd name="T17" fmla="*/ 126 h 163"/>
                  <a:gd name="T18" fmla="*/ 136 w 189"/>
                  <a:gd name="T19" fmla="*/ 126 h 163"/>
                  <a:gd name="T20" fmla="*/ 158 w 189"/>
                  <a:gd name="T21" fmla="*/ 50 h 163"/>
                  <a:gd name="T22" fmla="*/ 172 w 189"/>
                  <a:gd name="T23" fmla="*/ 65 h 163"/>
                  <a:gd name="T24" fmla="*/ 158 w 189"/>
                  <a:gd name="T25" fmla="*/ 79 h 163"/>
                  <a:gd name="T26" fmla="*/ 143 w 189"/>
                  <a:gd name="T27" fmla="*/ 65 h 163"/>
                  <a:gd name="T28" fmla="*/ 158 w 189"/>
                  <a:gd name="T29" fmla="*/ 50 h 163"/>
                  <a:gd name="T30" fmla="*/ 37 w 189"/>
                  <a:gd name="T31" fmla="*/ 79 h 163"/>
                  <a:gd name="T32" fmla="*/ 23 w 189"/>
                  <a:gd name="T33" fmla="*/ 65 h 163"/>
                  <a:gd name="T34" fmla="*/ 37 w 189"/>
                  <a:gd name="T35" fmla="*/ 50 h 163"/>
                  <a:gd name="T36" fmla="*/ 51 w 189"/>
                  <a:gd name="T37" fmla="*/ 65 h 163"/>
                  <a:gd name="T38" fmla="*/ 37 w 189"/>
                  <a:gd name="T39" fmla="*/ 79 h 163"/>
                  <a:gd name="T40" fmla="*/ 77 w 189"/>
                  <a:gd name="T41" fmla="*/ 79 h 163"/>
                  <a:gd name="T42" fmla="*/ 63 w 189"/>
                  <a:gd name="T43" fmla="*/ 65 h 163"/>
                  <a:gd name="T44" fmla="*/ 77 w 189"/>
                  <a:gd name="T45" fmla="*/ 50 h 163"/>
                  <a:gd name="T46" fmla="*/ 92 w 189"/>
                  <a:gd name="T47" fmla="*/ 65 h 163"/>
                  <a:gd name="T48" fmla="*/ 77 w 189"/>
                  <a:gd name="T49" fmla="*/ 79 h 163"/>
                  <a:gd name="T50" fmla="*/ 117 w 189"/>
                  <a:gd name="T51" fmla="*/ 79 h 163"/>
                  <a:gd name="T52" fmla="*/ 103 w 189"/>
                  <a:gd name="T53" fmla="*/ 65 h 163"/>
                  <a:gd name="T54" fmla="*/ 117 w 189"/>
                  <a:gd name="T55" fmla="*/ 50 h 163"/>
                  <a:gd name="T56" fmla="*/ 118 w 189"/>
                  <a:gd name="T57" fmla="*/ 50 h 163"/>
                  <a:gd name="T58" fmla="*/ 132 w 189"/>
                  <a:gd name="T59" fmla="*/ 65 h 163"/>
                  <a:gd name="T60" fmla="*/ 118 w 189"/>
                  <a:gd name="T61" fmla="*/ 79 h 163"/>
                  <a:gd name="T62" fmla="*/ 117 w 189"/>
                  <a:gd name="T63" fmla="*/ 7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9" h="163">
                    <a:moveTo>
                      <a:pt x="136" y="126"/>
                    </a:moveTo>
                    <a:cubicBezTo>
                      <a:pt x="168" y="163"/>
                      <a:pt x="168" y="163"/>
                      <a:pt x="168" y="163"/>
                    </a:cubicBezTo>
                    <a:cubicBezTo>
                      <a:pt x="168" y="126"/>
                      <a:pt x="168" y="126"/>
                      <a:pt x="168" y="126"/>
                    </a:cubicBezTo>
                    <a:cubicBezTo>
                      <a:pt x="189" y="126"/>
                      <a:pt x="189" y="126"/>
                      <a:pt x="189" y="126"/>
                    </a:cubicBezTo>
                    <a:cubicBezTo>
                      <a:pt x="189" y="0"/>
                      <a:pt x="189" y="0"/>
                      <a:pt x="18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118" y="126"/>
                      <a:pt x="118" y="126"/>
                      <a:pt x="118" y="126"/>
                    </a:cubicBezTo>
                    <a:lnTo>
                      <a:pt x="136" y="126"/>
                    </a:lnTo>
                    <a:close/>
                    <a:moveTo>
                      <a:pt x="158" y="50"/>
                    </a:moveTo>
                    <a:cubicBezTo>
                      <a:pt x="166" y="50"/>
                      <a:pt x="172" y="57"/>
                      <a:pt x="172" y="65"/>
                    </a:cubicBezTo>
                    <a:cubicBezTo>
                      <a:pt x="172" y="73"/>
                      <a:pt x="166" y="79"/>
                      <a:pt x="158" y="79"/>
                    </a:cubicBezTo>
                    <a:cubicBezTo>
                      <a:pt x="150" y="79"/>
                      <a:pt x="143" y="73"/>
                      <a:pt x="143" y="65"/>
                    </a:cubicBezTo>
                    <a:cubicBezTo>
                      <a:pt x="143" y="57"/>
                      <a:pt x="150" y="50"/>
                      <a:pt x="158" y="50"/>
                    </a:cubicBezTo>
                    <a:moveTo>
                      <a:pt x="37" y="79"/>
                    </a:moveTo>
                    <a:cubicBezTo>
                      <a:pt x="29" y="79"/>
                      <a:pt x="23" y="73"/>
                      <a:pt x="23" y="65"/>
                    </a:cubicBezTo>
                    <a:cubicBezTo>
                      <a:pt x="23" y="57"/>
                      <a:pt x="29" y="50"/>
                      <a:pt x="37" y="50"/>
                    </a:cubicBezTo>
                    <a:cubicBezTo>
                      <a:pt x="45" y="50"/>
                      <a:pt x="51" y="57"/>
                      <a:pt x="51" y="65"/>
                    </a:cubicBezTo>
                    <a:cubicBezTo>
                      <a:pt x="51" y="73"/>
                      <a:pt x="45" y="79"/>
                      <a:pt x="37" y="79"/>
                    </a:cubicBezTo>
                    <a:moveTo>
                      <a:pt x="77" y="79"/>
                    </a:moveTo>
                    <a:cubicBezTo>
                      <a:pt x="69" y="79"/>
                      <a:pt x="63" y="73"/>
                      <a:pt x="63" y="65"/>
                    </a:cubicBezTo>
                    <a:cubicBezTo>
                      <a:pt x="63" y="57"/>
                      <a:pt x="69" y="50"/>
                      <a:pt x="77" y="50"/>
                    </a:cubicBezTo>
                    <a:cubicBezTo>
                      <a:pt x="85" y="50"/>
                      <a:pt x="92" y="57"/>
                      <a:pt x="92" y="65"/>
                    </a:cubicBezTo>
                    <a:cubicBezTo>
                      <a:pt x="92" y="73"/>
                      <a:pt x="85" y="79"/>
                      <a:pt x="77" y="79"/>
                    </a:cubicBezTo>
                    <a:moveTo>
                      <a:pt x="117" y="79"/>
                    </a:moveTo>
                    <a:cubicBezTo>
                      <a:pt x="110" y="79"/>
                      <a:pt x="103" y="73"/>
                      <a:pt x="103" y="65"/>
                    </a:cubicBezTo>
                    <a:cubicBezTo>
                      <a:pt x="103" y="57"/>
                      <a:pt x="110" y="50"/>
                      <a:pt x="117" y="50"/>
                    </a:cubicBezTo>
                    <a:cubicBezTo>
                      <a:pt x="118" y="50"/>
                      <a:pt x="118" y="50"/>
                      <a:pt x="118" y="50"/>
                    </a:cubicBezTo>
                    <a:cubicBezTo>
                      <a:pt x="126" y="51"/>
                      <a:pt x="132" y="57"/>
                      <a:pt x="132" y="65"/>
                    </a:cubicBezTo>
                    <a:cubicBezTo>
                      <a:pt x="132" y="72"/>
                      <a:pt x="126" y="78"/>
                      <a:pt x="118" y="79"/>
                    </a:cubicBezTo>
                    <a:cubicBezTo>
                      <a:pt x="118" y="79"/>
                      <a:pt x="118" y="79"/>
                      <a:pt x="117" y="7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8" name="组合 37"/>
          <p:cNvGrpSpPr/>
          <p:nvPr>
            <p:custDataLst>
              <p:tags r:id="rId2"/>
            </p:custDataLst>
          </p:nvPr>
        </p:nvGrpSpPr>
        <p:grpSpPr>
          <a:xfrm>
            <a:off x="8150228" y="4796231"/>
            <a:ext cx="3537340" cy="1256369"/>
            <a:chOff x="8251253" y="5014760"/>
            <a:chExt cx="3295978" cy="913480"/>
          </a:xfrm>
        </p:grpSpPr>
        <p:sp>
          <p:nvSpPr>
            <p:cNvPr id="33" name="矩形 32"/>
            <p:cNvSpPr/>
            <p:nvPr>
              <p:custDataLst>
                <p:tags r:id="rId5"/>
              </p:custDataLst>
            </p:nvPr>
          </p:nvSpPr>
          <p:spPr>
            <a:xfrm>
              <a:off x="9126059" y="5014760"/>
              <a:ext cx="2421172" cy="903953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CN" sz="1400" dirty="0" err="1">
                  <a:ln w="12700">
                    <a:noFill/>
                  </a:ln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" panose="020B0400000000000000" charset="-122"/>
                  <a:sym typeface="+mn-ea"/>
                </a:rPr>
                <a:t>针对</a:t>
              </a:r>
              <a:r>
                <a:rPr kumimoji="1" lang="zh-CN" altLang="en-US" sz="1400" dirty="0">
                  <a:ln w="12700">
                    <a:noFill/>
                  </a:ln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" panose="020B0400000000000000" charset="-122"/>
                  <a:sym typeface="+mn-ea"/>
                </a:rPr>
                <a:t>变体字</a:t>
              </a:r>
              <a:r>
                <a:rPr kumimoji="1" lang="en-US" altLang="zh-CN" sz="1400" dirty="0" err="1">
                  <a:ln w="12700">
                    <a:noFill/>
                  </a:ln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" panose="020B0400000000000000" charset="-122"/>
                  <a:sym typeface="+mn-ea"/>
                </a:rPr>
                <a:t>和生僻字，添加预定义默认值</a:t>
              </a:r>
              <a:r>
                <a:rPr kumimoji="1" lang="en-US" altLang="zh-CN" sz="1400" dirty="0">
                  <a:ln w="12700">
                    <a:noFill/>
                  </a:ln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" panose="020B0400000000000000" charset="-122"/>
                  <a:sym typeface="+mn-ea"/>
                </a:rPr>
                <a:t>，</a:t>
              </a:r>
              <a:r>
                <a:rPr kumimoji="1" lang="zh-CN" altLang="en-US" sz="1400" dirty="0">
                  <a:ln w="12700">
                    <a:noFill/>
                  </a:ln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" panose="020B0400000000000000" charset="-122"/>
                  <a:sym typeface="+mn-ea"/>
                </a:rPr>
                <a:t>解决</a:t>
              </a: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结构编码缺失问题，增强模型鲁棒性</a:t>
              </a:r>
              <a:r>
                <a:rPr kumimoji="1" lang="en-US" altLang="zh-CN" sz="1400" dirty="0">
                  <a:ln w="12700">
                    <a:noFill/>
                  </a:ln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" panose="020B0400000000000000" charset="-122"/>
                  <a:sym typeface="+mn-ea"/>
                </a:rPr>
                <a:t>。</a:t>
              </a: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251253" y="5208240"/>
              <a:ext cx="720000" cy="720000"/>
              <a:chOff x="8251253" y="5208240"/>
              <a:chExt cx="720000" cy="720000"/>
            </a:xfrm>
          </p:grpSpPr>
          <p:sp>
            <p:nvSpPr>
              <p:cNvPr id="29" name="矩形 28"/>
              <p:cNvSpPr>
                <a:spLocks noChangeAspec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8251253" y="5208240"/>
                <a:ext cx="720000" cy="720000"/>
              </a:xfrm>
              <a:prstGeom prst="rect">
                <a:avLst/>
              </a:prstGeom>
              <a:solidFill>
                <a:srgbClr val="0149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AutoShape 18"/>
              <p:cNvSpPr>
                <a:spLocks noChangeAspect="1" noChangeArrowheads="1" noTextEdit="1"/>
              </p:cNvSpPr>
              <p:nvPr/>
            </p:nvSpPr>
            <p:spPr bwMode="auto">
              <a:xfrm>
                <a:off x="8406059" y="5362723"/>
                <a:ext cx="410388" cy="410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54" name="Freeform 15"/>
          <p:cNvSpPr/>
          <p:nvPr>
            <p:custDataLst>
              <p:tags r:id="rId3"/>
            </p:custDataLst>
          </p:nvPr>
        </p:nvSpPr>
        <p:spPr bwMode="auto">
          <a:xfrm>
            <a:off x="8295789" y="5430590"/>
            <a:ext cx="320937" cy="275299"/>
          </a:xfrm>
          <a:custGeom>
            <a:avLst/>
            <a:gdLst>
              <a:gd name="T0" fmla="*/ 46 w 436"/>
              <a:gd name="T1" fmla="*/ 374 h 374"/>
              <a:gd name="T2" fmla="*/ 125 w 436"/>
              <a:gd name="T3" fmla="*/ 292 h 374"/>
              <a:gd name="T4" fmla="*/ 436 w 436"/>
              <a:gd name="T5" fmla="*/ 292 h 374"/>
              <a:gd name="T6" fmla="*/ 436 w 436"/>
              <a:gd name="T7" fmla="*/ 204 h 374"/>
              <a:gd name="T8" fmla="*/ 154 w 436"/>
              <a:gd name="T9" fmla="*/ 204 h 374"/>
              <a:gd name="T10" fmla="*/ 137 w 436"/>
              <a:gd name="T11" fmla="*/ 204 h 374"/>
              <a:gd name="T12" fmla="*/ 137 w 436"/>
              <a:gd name="T13" fmla="*/ 189 h 374"/>
              <a:gd name="T14" fmla="*/ 137 w 436"/>
              <a:gd name="T15" fmla="*/ 0 h 374"/>
              <a:gd name="T16" fmla="*/ 0 w 436"/>
              <a:gd name="T17" fmla="*/ 0 h 374"/>
              <a:gd name="T18" fmla="*/ 0 w 436"/>
              <a:gd name="T19" fmla="*/ 292 h 374"/>
              <a:gd name="T20" fmla="*/ 46 w 436"/>
              <a:gd name="T21" fmla="*/ 292 h 374"/>
              <a:gd name="T22" fmla="*/ 46 w 436"/>
              <a:gd name="T23" fmla="*/ 374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36" h="374">
                <a:moveTo>
                  <a:pt x="46" y="374"/>
                </a:moveTo>
                <a:lnTo>
                  <a:pt x="125" y="292"/>
                </a:lnTo>
                <a:lnTo>
                  <a:pt x="436" y="292"/>
                </a:lnTo>
                <a:lnTo>
                  <a:pt x="436" y="204"/>
                </a:lnTo>
                <a:lnTo>
                  <a:pt x="154" y="204"/>
                </a:lnTo>
                <a:lnTo>
                  <a:pt x="137" y="204"/>
                </a:lnTo>
                <a:lnTo>
                  <a:pt x="137" y="189"/>
                </a:lnTo>
                <a:lnTo>
                  <a:pt x="137" y="0"/>
                </a:lnTo>
                <a:lnTo>
                  <a:pt x="0" y="0"/>
                </a:lnTo>
                <a:lnTo>
                  <a:pt x="0" y="292"/>
                </a:lnTo>
                <a:lnTo>
                  <a:pt x="46" y="292"/>
                </a:lnTo>
                <a:lnTo>
                  <a:pt x="46" y="3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5" name="Freeform 16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8428699" y="5335420"/>
            <a:ext cx="332715" cy="287077"/>
          </a:xfrm>
          <a:custGeom>
            <a:avLst/>
            <a:gdLst>
              <a:gd name="T0" fmla="*/ 136 w 189"/>
              <a:gd name="T1" fmla="*/ 126 h 163"/>
              <a:gd name="T2" fmla="*/ 168 w 189"/>
              <a:gd name="T3" fmla="*/ 163 h 163"/>
              <a:gd name="T4" fmla="*/ 168 w 189"/>
              <a:gd name="T5" fmla="*/ 126 h 163"/>
              <a:gd name="T6" fmla="*/ 189 w 189"/>
              <a:gd name="T7" fmla="*/ 126 h 163"/>
              <a:gd name="T8" fmla="*/ 189 w 189"/>
              <a:gd name="T9" fmla="*/ 0 h 163"/>
              <a:gd name="T10" fmla="*/ 0 w 189"/>
              <a:gd name="T11" fmla="*/ 0 h 163"/>
              <a:gd name="T12" fmla="*/ 0 w 189"/>
              <a:gd name="T13" fmla="*/ 48 h 163"/>
              <a:gd name="T14" fmla="*/ 0 w 189"/>
              <a:gd name="T15" fmla="*/ 126 h 163"/>
              <a:gd name="T16" fmla="*/ 118 w 189"/>
              <a:gd name="T17" fmla="*/ 126 h 163"/>
              <a:gd name="T18" fmla="*/ 136 w 189"/>
              <a:gd name="T19" fmla="*/ 126 h 163"/>
              <a:gd name="T20" fmla="*/ 158 w 189"/>
              <a:gd name="T21" fmla="*/ 50 h 163"/>
              <a:gd name="T22" fmla="*/ 172 w 189"/>
              <a:gd name="T23" fmla="*/ 65 h 163"/>
              <a:gd name="T24" fmla="*/ 158 w 189"/>
              <a:gd name="T25" fmla="*/ 79 h 163"/>
              <a:gd name="T26" fmla="*/ 143 w 189"/>
              <a:gd name="T27" fmla="*/ 65 h 163"/>
              <a:gd name="T28" fmla="*/ 158 w 189"/>
              <a:gd name="T29" fmla="*/ 50 h 163"/>
              <a:gd name="T30" fmla="*/ 37 w 189"/>
              <a:gd name="T31" fmla="*/ 79 h 163"/>
              <a:gd name="T32" fmla="*/ 23 w 189"/>
              <a:gd name="T33" fmla="*/ 65 h 163"/>
              <a:gd name="T34" fmla="*/ 37 w 189"/>
              <a:gd name="T35" fmla="*/ 50 h 163"/>
              <a:gd name="T36" fmla="*/ 51 w 189"/>
              <a:gd name="T37" fmla="*/ 65 h 163"/>
              <a:gd name="T38" fmla="*/ 37 w 189"/>
              <a:gd name="T39" fmla="*/ 79 h 163"/>
              <a:gd name="T40" fmla="*/ 77 w 189"/>
              <a:gd name="T41" fmla="*/ 79 h 163"/>
              <a:gd name="T42" fmla="*/ 63 w 189"/>
              <a:gd name="T43" fmla="*/ 65 h 163"/>
              <a:gd name="T44" fmla="*/ 77 w 189"/>
              <a:gd name="T45" fmla="*/ 50 h 163"/>
              <a:gd name="T46" fmla="*/ 92 w 189"/>
              <a:gd name="T47" fmla="*/ 65 h 163"/>
              <a:gd name="T48" fmla="*/ 77 w 189"/>
              <a:gd name="T49" fmla="*/ 79 h 163"/>
              <a:gd name="T50" fmla="*/ 117 w 189"/>
              <a:gd name="T51" fmla="*/ 79 h 163"/>
              <a:gd name="T52" fmla="*/ 103 w 189"/>
              <a:gd name="T53" fmla="*/ 65 h 163"/>
              <a:gd name="T54" fmla="*/ 117 w 189"/>
              <a:gd name="T55" fmla="*/ 50 h 163"/>
              <a:gd name="T56" fmla="*/ 118 w 189"/>
              <a:gd name="T57" fmla="*/ 50 h 163"/>
              <a:gd name="T58" fmla="*/ 132 w 189"/>
              <a:gd name="T59" fmla="*/ 65 h 163"/>
              <a:gd name="T60" fmla="*/ 118 w 189"/>
              <a:gd name="T61" fmla="*/ 79 h 163"/>
              <a:gd name="T62" fmla="*/ 117 w 189"/>
              <a:gd name="T63" fmla="*/ 79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89" h="163">
                <a:moveTo>
                  <a:pt x="136" y="126"/>
                </a:moveTo>
                <a:cubicBezTo>
                  <a:pt x="168" y="163"/>
                  <a:pt x="168" y="163"/>
                  <a:pt x="168" y="163"/>
                </a:cubicBezTo>
                <a:cubicBezTo>
                  <a:pt x="168" y="126"/>
                  <a:pt x="168" y="126"/>
                  <a:pt x="168" y="126"/>
                </a:cubicBezTo>
                <a:cubicBezTo>
                  <a:pt x="189" y="126"/>
                  <a:pt x="189" y="126"/>
                  <a:pt x="189" y="126"/>
                </a:cubicBezTo>
                <a:cubicBezTo>
                  <a:pt x="189" y="0"/>
                  <a:pt x="189" y="0"/>
                  <a:pt x="18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126"/>
                  <a:pt x="0" y="126"/>
                  <a:pt x="0" y="126"/>
                </a:cubicBezTo>
                <a:cubicBezTo>
                  <a:pt x="118" y="126"/>
                  <a:pt x="118" y="126"/>
                  <a:pt x="118" y="126"/>
                </a:cubicBezTo>
                <a:lnTo>
                  <a:pt x="136" y="126"/>
                </a:lnTo>
                <a:close/>
                <a:moveTo>
                  <a:pt x="158" y="50"/>
                </a:moveTo>
                <a:cubicBezTo>
                  <a:pt x="166" y="50"/>
                  <a:pt x="172" y="57"/>
                  <a:pt x="172" y="65"/>
                </a:cubicBezTo>
                <a:cubicBezTo>
                  <a:pt x="172" y="73"/>
                  <a:pt x="166" y="79"/>
                  <a:pt x="158" y="79"/>
                </a:cubicBezTo>
                <a:cubicBezTo>
                  <a:pt x="150" y="79"/>
                  <a:pt x="143" y="73"/>
                  <a:pt x="143" y="65"/>
                </a:cubicBezTo>
                <a:cubicBezTo>
                  <a:pt x="143" y="57"/>
                  <a:pt x="150" y="50"/>
                  <a:pt x="158" y="50"/>
                </a:cubicBezTo>
                <a:moveTo>
                  <a:pt x="37" y="79"/>
                </a:moveTo>
                <a:cubicBezTo>
                  <a:pt x="29" y="79"/>
                  <a:pt x="23" y="73"/>
                  <a:pt x="23" y="65"/>
                </a:cubicBezTo>
                <a:cubicBezTo>
                  <a:pt x="23" y="57"/>
                  <a:pt x="29" y="50"/>
                  <a:pt x="37" y="50"/>
                </a:cubicBezTo>
                <a:cubicBezTo>
                  <a:pt x="45" y="50"/>
                  <a:pt x="51" y="57"/>
                  <a:pt x="51" y="65"/>
                </a:cubicBezTo>
                <a:cubicBezTo>
                  <a:pt x="51" y="73"/>
                  <a:pt x="45" y="79"/>
                  <a:pt x="37" y="79"/>
                </a:cubicBezTo>
                <a:moveTo>
                  <a:pt x="77" y="79"/>
                </a:moveTo>
                <a:cubicBezTo>
                  <a:pt x="69" y="79"/>
                  <a:pt x="63" y="73"/>
                  <a:pt x="63" y="65"/>
                </a:cubicBezTo>
                <a:cubicBezTo>
                  <a:pt x="63" y="57"/>
                  <a:pt x="69" y="50"/>
                  <a:pt x="77" y="50"/>
                </a:cubicBezTo>
                <a:cubicBezTo>
                  <a:pt x="85" y="50"/>
                  <a:pt x="92" y="57"/>
                  <a:pt x="92" y="65"/>
                </a:cubicBezTo>
                <a:cubicBezTo>
                  <a:pt x="92" y="73"/>
                  <a:pt x="85" y="79"/>
                  <a:pt x="77" y="79"/>
                </a:cubicBezTo>
                <a:moveTo>
                  <a:pt x="117" y="79"/>
                </a:moveTo>
                <a:cubicBezTo>
                  <a:pt x="110" y="79"/>
                  <a:pt x="103" y="73"/>
                  <a:pt x="103" y="65"/>
                </a:cubicBezTo>
                <a:cubicBezTo>
                  <a:pt x="103" y="57"/>
                  <a:pt x="110" y="50"/>
                  <a:pt x="117" y="50"/>
                </a:cubicBezTo>
                <a:cubicBezTo>
                  <a:pt x="118" y="50"/>
                  <a:pt x="118" y="50"/>
                  <a:pt x="118" y="50"/>
                </a:cubicBezTo>
                <a:cubicBezTo>
                  <a:pt x="126" y="51"/>
                  <a:pt x="132" y="57"/>
                  <a:pt x="132" y="65"/>
                </a:cubicBezTo>
                <a:cubicBezTo>
                  <a:pt x="132" y="72"/>
                  <a:pt x="126" y="78"/>
                  <a:pt x="118" y="79"/>
                </a:cubicBezTo>
                <a:cubicBezTo>
                  <a:pt x="118" y="79"/>
                  <a:pt x="118" y="79"/>
                  <a:pt x="117" y="79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FB54D4F-FA0E-5286-4F22-794E99FBB9A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52858" y="4220649"/>
            <a:ext cx="6172200" cy="29527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62FD66B-16D1-83E7-2062-B50A207E7B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38149" y="5040145"/>
            <a:ext cx="3343275" cy="295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46" name="圆角矩形 45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701167" y="144940"/>
            <a:ext cx="180721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45" name="圆角矩形 44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圆角矩形 48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1409700" y="1502714"/>
            <a:ext cx="4242397" cy="2171744"/>
            <a:chOff x="1409700" y="1502714"/>
            <a:chExt cx="3974045" cy="1978660"/>
          </a:xfrm>
        </p:grpSpPr>
        <p:grpSp>
          <p:nvGrpSpPr>
            <p:cNvPr id="10" name="组合 9"/>
            <p:cNvGrpSpPr/>
            <p:nvPr/>
          </p:nvGrpSpPr>
          <p:grpSpPr>
            <a:xfrm>
              <a:off x="1409700" y="1502714"/>
              <a:ext cx="3227070" cy="1978660"/>
              <a:chOff x="1238250" y="1554479"/>
              <a:chExt cx="3227070" cy="1978660"/>
            </a:xfrm>
          </p:grpSpPr>
          <p:sp>
            <p:nvSpPr>
              <p:cNvPr id="4" name="矩形 3"/>
              <p:cNvSpPr/>
              <p:nvPr>
                <p:custDataLst>
                  <p:tags r:id="rId21"/>
                </p:custDataLst>
              </p:nvPr>
            </p:nvSpPr>
            <p:spPr>
              <a:xfrm>
                <a:off x="1238250" y="1554479"/>
                <a:ext cx="3227070" cy="1798321"/>
              </a:xfrm>
              <a:prstGeom prst="rect">
                <a:avLst/>
              </a:prstGeom>
              <a:solidFill>
                <a:srgbClr val="0149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 56"/>
              <p:cNvSpPr/>
              <p:nvPr>
                <p:custDataLst>
                  <p:tags r:id="rId22"/>
                </p:custDataLst>
              </p:nvPr>
            </p:nvSpPr>
            <p:spPr>
              <a:xfrm>
                <a:off x="1390650" y="3148329"/>
                <a:ext cx="1638935" cy="38481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65" name="TextBox 76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409866" y="3160510"/>
                <a:ext cx="1604010" cy="335915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bg1"/>
                    </a:solidFill>
                  </a:rPr>
                  <a:t>侮辱性攻击词典</a:t>
                </a:r>
              </a:p>
            </p:txBody>
          </p:sp>
          <p:sp>
            <p:nvSpPr>
              <p:cNvPr id="66" name="矩形 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1480745" y="1672693"/>
                <a:ext cx="2093109" cy="1382395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包含</a:t>
                </a:r>
                <a:r>
                  <a:rPr lang="en-US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⼤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</a:t>
                </a:r>
                <a:r>
                  <a:rPr lang="en-US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⽤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于直接侮辱他</a:t>
                </a:r>
                <a:r>
                  <a:rPr lang="en-US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⼈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的粗</a:t>
                </a:r>
                <a:r>
                  <a:rPr lang="en-US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⼝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和蔑称，如：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废物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脑残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狗杂种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</a:t>
                </a:r>
              </a:p>
            </p:txBody>
          </p:sp>
        </p:grpSp>
        <p:sp>
          <p:nvSpPr>
            <p:cNvPr id="78" name="六边形 77"/>
            <p:cNvSpPr/>
            <p:nvPr>
              <p:custDataLst>
                <p:tags r:id="rId20"/>
              </p:custDataLst>
            </p:nvPr>
          </p:nvSpPr>
          <p:spPr>
            <a:xfrm rot="5400000">
              <a:off x="3790297" y="1626627"/>
              <a:ext cx="1711481" cy="1475414"/>
            </a:xfrm>
            <a:prstGeom prst="hexagon">
              <a:avLst/>
            </a:prstGeom>
            <a:noFill/>
            <a:ln>
              <a:solidFill>
                <a:srgbClr val="0149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6877050" y="1502714"/>
            <a:ext cx="3964778" cy="1941830"/>
            <a:chOff x="6877050" y="1502714"/>
            <a:chExt cx="3964778" cy="1941830"/>
          </a:xfrm>
        </p:grpSpPr>
        <p:grpSp>
          <p:nvGrpSpPr>
            <p:cNvPr id="36" name="组合 35"/>
            <p:cNvGrpSpPr/>
            <p:nvPr/>
          </p:nvGrpSpPr>
          <p:grpSpPr>
            <a:xfrm>
              <a:off x="6877050" y="1502714"/>
              <a:ext cx="3227070" cy="1941830"/>
              <a:chOff x="6705600" y="1554479"/>
              <a:chExt cx="3227070" cy="1941830"/>
            </a:xfrm>
          </p:grpSpPr>
          <p:sp>
            <p:nvSpPr>
              <p:cNvPr id="54" name="矩形 53"/>
              <p:cNvSpPr/>
              <p:nvPr>
                <p:custDataLst>
                  <p:tags r:id="rId16"/>
                </p:custDataLst>
              </p:nvPr>
            </p:nvSpPr>
            <p:spPr>
              <a:xfrm>
                <a:off x="6705600" y="1554479"/>
                <a:ext cx="3227070" cy="1798321"/>
              </a:xfrm>
              <a:prstGeom prst="rect">
                <a:avLst/>
              </a:prstGeom>
              <a:solidFill>
                <a:srgbClr val="0149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6873240" y="3111499"/>
                <a:ext cx="1960245" cy="38481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grpSp>
            <p:nvGrpSpPr>
              <p:cNvPr id="9" name="组合 8"/>
              <p:cNvGrpSpPr/>
              <p:nvPr/>
            </p:nvGrpSpPr>
            <p:grpSpPr>
              <a:xfrm>
                <a:off x="6963387" y="1672693"/>
                <a:ext cx="2093132" cy="1798297"/>
                <a:chOff x="6963387" y="1672693"/>
                <a:chExt cx="2093132" cy="1798297"/>
              </a:xfrm>
            </p:grpSpPr>
            <p:sp>
              <p:nvSpPr>
                <p:cNvPr id="67" name="矩形 66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6963410" y="1672693"/>
                  <a:ext cx="2093109" cy="1383007"/>
                </a:xfrm>
                <a:prstGeom prst="rect">
                  <a:avLst/>
                </a:prstGeom>
              </p:spPr>
              <p:txBody>
                <a:bodyPr wrap="square" lIns="91436" tIns="45718" rIns="91436" bIns="45718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包含对特定群体的歧视、贬低、地域或性别偏</a:t>
                  </a:r>
                  <a:r>
                    <a:rPr lang="en-US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⻅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表达，如：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“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阿三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”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、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“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残疾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”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等</a:t>
                  </a:r>
                </a:p>
              </p:txBody>
            </p:sp>
            <p:sp>
              <p:nvSpPr>
                <p:cNvPr id="68" name="TextBox 76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6963387" y="3134926"/>
                  <a:ext cx="1807210" cy="336064"/>
                </a:xfrm>
                <a:prstGeom prst="rect">
                  <a:avLst/>
                </a:prstGeom>
                <a:noFill/>
              </p:spPr>
              <p:txBody>
                <a:bodyPr wrap="none" lIns="91436" tIns="45718" rIns="91436" bIns="45718" rtlCol="0">
                  <a:spAutoFit/>
                </a:bodyPr>
                <a:lstStyle>
                  <a:defPPr>
                    <a:defRPr lang="zh-CN"/>
                  </a:defPPr>
                  <a:lvl1pPr>
                    <a:defRPr sz="1600" b="1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chemeClr val="bg1"/>
                      </a:solidFill>
                    </a:rPr>
                    <a:t>群体歧视攻击词典</a:t>
                  </a:r>
                </a:p>
              </p:txBody>
            </p:sp>
          </p:grpSp>
        </p:grpSp>
        <p:sp>
          <p:nvSpPr>
            <p:cNvPr id="79" name="六边形 78"/>
            <p:cNvSpPr/>
            <p:nvPr>
              <p:custDataLst>
                <p:tags r:id="rId15"/>
              </p:custDataLst>
            </p:nvPr>
          </p:nvSpPr>
          <p:spPr>
            <a:xfrm rot="5400000">
              <a:off x="9248380" y="1626627"/>
              <a:ext cx="1711481" cy="1475414"/>
            </a:xfrm>
            <a:prstGeom prst="hexagon">
              <a:avLst/>
            </a:prstGeom>
            <a:noFill/>
            <a:ln>
              <a:solidFill>
                <a:srgbClr val="0149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" name="组合 6"/>
          <p:cNvGrpSpPr/>
          <p:nvPr>
            <p:custDataLst>
              <p:tags r:id="rId3"/>
            </p:custDataLst>
          </p:nvPr>
        </p:nvGrpSpPr>
        <p:grpSpPr>
          <a:xfrm>
            <a:off x="1409700" y="3832572"/>
            <a:ext cx="3960254" cy="1956435"/>
            <a:chOff x="1409700" y="3832572"/>
            <a:chExt cx="3960254" cy="1956435"/>
          </a:xfrm>
        </p:grpSpPr>
        <p:grpSp>
          <p:nvGrpSpPr>
            <p:cNvPr id="76" name="组合 75"/>
            <p:cNvGrpSpPr/>
            <p:nvPr/>
          </p:nvGrpSpPr>
          <p:grpSpPr>
            <a:xfrm>
              <a:off x="1409700" y="3832572"/>
              <a:ext cx="3227070" cy="1956435"/>
              <a:chOff x="1238250" y="3832572"/>
              <a:chExt cx="3227070" cy="1956435"/>
            </a:xfrm>
          </p:grpSpPr>
          <p:sp>
            <p:nvSpPr>
              <p:cNvPr id="55" name="矩形 54"/>
              <p:cNvSpPr/>
              <p:nvPr>
                <p:custDataLst>
                  <p:tags r:id="rId11"/>
                </p:custDataLst>
              </p:nvPr>
            </p:nvSpPr>
            <p:spPr>
              <a:xfrm>
                <a:off x="1238250" y="3832572"/>
                <a:ext cx="3227070" cy="1798321"/>
              </a:xfrm>
              <a:prstGeom prst="rect">
                <a:avLst/>
              </a:prstGeom>
              <a:solidFill>
                <a:srgbClr val="0149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/>
              <p:cNvSpPr/>
              <p:nvPr>
                <p:custDataLst>
                  <p:tags r:id="rId12"/>
                </p:custDataLst>
              </p:nvPr>
            </p:nvSpPr>
            <p:spPr>
              <a:xfrm>
                <a:off x="1390650" y="5404197"/>
                <a:ext cx="2245995" cy="38481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grpSp>
            <p:nvGrpSpPr>
              <p:cNvPr id="69" name="组合 68"/>
              <p:cNvGrpSpPr/>
              <p:nvPr/>
            </p:nvGrpSpPr>
            <p:grpSpPr>
              <a:xfrm>
                <a:off x="1481065" y="3916942"/>
                <a:ext cx="2093109" cy="1862442"/>
                <a:chOff x="6910070" y="1608558"/>
                <a:chExt cx="2093109" cy="1862442"/>
              </a:xfrm>
            </p:grpSpPr>
            <p:sp>
              <p:nvSpPr>
                <p:cNvPr id="70" name="矩形 69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910070" y="1608558"/>
                  <a:ext cx="2093109" cy="1382395"/>
                </a:xfrm>
                <a:prstGeom prst="rect">
                  <a:avLst/>
                </a:prstGeom>
              </p:spPr>
              <p:txBody>
                <a:bodyPr wrap="square" lIns="91436" tIns="45718" rIns="91436" bIns="45718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包含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情绪强烈但不</a:t>
                  </a:r>
                  <a:r>
                    <a:rPr lang="en-US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⼀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定使</a:t>
                  </a:r>
                  <a:r>
                    <a:rPr lang="en-US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⽤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侮辱词的攻击</a:t>
                  </a:r>
                  <a:r>
                    <a:rPr lang="en-US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⾏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为，如：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“</a:t>
                  </a:r>
                  <a:r>
                    <a:rPr lang="en-US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⼀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起攻击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”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、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“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举报到封号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”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等。</a:t>
                  </a:r>
                </a:p>
              </p:txBody>
            </p:sp>
            <p:sp>
              <p:nvSpPr>
                <p:cNvPr id="71" name="TextBox 76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6963387" y="3134926"/>
                  <a:ext cx="2010410" cy="336074"/>
                </a:xfrm>
                <a:prstGeom prst="rect">
                  <a:avLst/>
                </a:prstGeom>
                <a:noFill/>
              </p:spPr>
              <p:txBody>
                <a:bodyPr wrap="none" lIns="91436" tIns="45718" rIns="91436" bIns="45718" rtlCol="0">
                  <a:spAutoFit/>
                </a:bodyPr>
                <a:lstStyle>
                  <a:defPPr>
                    <a:defRPr lang="zh-CN"/>
                  </a:defPPr>
                  <a:lvl1pPr>
                    <a:defRPr sz="1600" b="1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chemeClr val="bg1"/>
                      </a:solidFill>
                    </a:rPr>
                    <a:t>情绪化负面攻击短语</a:t>
                  </a:r>
                </a:p>
              </p:txBody>
            </p:sp>
          </p:grpSp>
        </p:grpSp>
        <p:sp>
          <p:nvSpPr>
            <p:cNvPr id="80" name="六边形 79"/>
            <p:cNvSpPr/>
            <p:nvPr>
              <p:custDataLst>
                <p:tags r:id="rId10"/>
              </p:custDataLst>
            </p:nvPr>
          </p:nvSpPr>
          <p:spPr>
            <a:xfrm rot="5400000">
              <a:off x="3776506" y="3990670"/>
              <a:ext cx="1711481" cy="1475414"/>
            </a:xfrm>
            <a:prstGeom prst="hexagon">
              <a:avLst/>
            </a:prstGeom>
            <a:noFill/>
            <a:ln>
              <a:solidFill>
                <a:srgbClr val="0149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" name="组合 7"/>
          <p:cNvGrpSpPr/>
          <p:nvPr>
            <p:custDataLst>
              <p:tags r:id="rId4"/>
            </p:custDataLst>
          </p:nvPr>
        </p:nvGrpSpPr>
        <p:grpSpPr>
          <a:xfrm>
            <a:off x="6877050" y="3832572"/>
            <a:ext cx="3964778" cy="1986280"/>
            <a:chOff x="6877050" y="3832572"/>
            <a:chExt cx="3964778" cy="1986280"/>
          </a:xfrm>
        </p:grpSpPr>
        <p:grpSp>
          <p:nvGrpSpPr>
            <p:cNvPr id="75" name="组合 74"/>
            <p:cNvGrpSpPr/>
            <p:nvPr/>
          </p:nvGrpSpPr>
          <p:grpSpPr>
            <a:xfrm>
              <a:off x="6877050" y="3832572"/>
              <a:ext cx="3227070" cy="1986280"/>
              <a:chOff x="6705600" y="3837162"/>
              <a:chExt cx="3227070" cy="1986280"/>
            </a:xfrm>
          </p:grpSpPr>
          <p:sp>
            <p:nvSpPr>
              <p:cNvPr id="56" name="矩形 55"/>
              <p:cNvSpPr/>
              <p:nvPr>
                <p:custDataLst>
                  <p:tags r:id="rId6"/>
                </p:custDataLst>
              </p:nvPr>
            </p:nvSpPr>
            <p:spPr>
              <a:xfrm>
                <a:off x="6705600" y="3837162"/>
                <a:ext cx="3227070" cy="1798321"/>
              </a:xfrm>
              <a:prstGeom prst="rect">
                <a:avLst/>
              </a:prstGeom>
              <a:solidFill>
                <a:srgbClr val="0149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" name="矩形 59"/>
              <p:cNvSpPr/>
              <p:nvPr>
                <p:custDataLst>
                  <p:tags r:id="rId7"/>
                </p:custDataLst>
              </p:nvPr>
            </p:nvSpPr>
            <p:spPr>
              <a:xfrm>
                <a:off x="6873240" y="5438632"/>
                <a:ext cx="2026920" cy="38481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6985000" y="3972299"/>
                <a:ext cx="2093132" cy="1829886"/>
                <a:chOff x="6963387" y="1640308"/>
                <a:chExt cx="2093132" cy="1829886"/>
              </a:xfrm>
            </p:grpSpPr>
            <p:sp>
              <p:nvSpPr>
                <p:cNvPr id="73" name="矩形 72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963410" y="1640308"/>
                  <a:ext cx="2093109" cy="1382395"/>
                </a:xfrm>
                <a:prstGeom prst="rect">
                  <a:avLst/>
                </a:prstGeom>
              </p:spPr>
              <p:txBody>
                <a:bodyPr wrap="square" lIns="91436" tIns="45718" rIns="91436" bIns="45718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包括表</a:t>
                  </a:r>
                  <a:r>
                    <a:rPr lang="en-US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⽰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愤怒、讽刺或激烈情绪的符号序列，如：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“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！！！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”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、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“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？？？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”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。</a:t>
                  </a:r>
                </a:p>
              </p:txBody>
            </p:sp>
            <p:sp>
              <p:nvSpPr>
                <p:cNvPr id="74" name="TextBox 76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6963387" y="3134926"/>
                  <a:ext cx="1807210" cy="335268"/>
                </a:xfrm>
                <a:prstGeom prst="rect">
                  <a:avLst/>
                </a:prstGeom>
                <a:noFill/>
              </p:spPr>
              <p:txBody>
                <a:bodyPr wrap="none" lIns="91436" tIns="45718" rIns="91436" bIns="45718" rtlCol="0">
                  <a:spAutoFit/>
                </a:bodyPr>
                <a:lstStyle>
                  <a:defPPr>
                    <a:defRPr lang="zh-CN"/>
                  </a:defPPr>
                  <a:lvl1pPr>
                    <a:defRPr sz="1600" b="1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chemeClr val="bg1"/>
                      </a:solidFill>
                    </a:rPr>
                    <a:t>情绪强化标点特征</a:t>
                  </a:r>
                </a:p>
              </p:txBody>
            </p:sp>
          </p:grpSp>
        </p:grpSp>
        <p:sp>
          <p:nvSpPr>
            <p:cNvPr id="81" name="六边形 80"/>
            <p:cNvSpPr/>
            <p:nvPr>
              <p:custDataLst>
                <p:tags r:id="rId5"/>
              </p:custDataLst>
            </p:nvPr>
          </p:nvSpPr>
          <p:spPr>
            <a:xfrm rot="5400000">
              <a:off x="9248380" y="3978821"/>
              <a:ext cx="1711481" cy="1475414"/>
            </a:xfrm>
            <a:prstGeom prst="hexagon">
              <a:avLst/>
            </a:prstGeom>
            <a:noFill/>
            <a:ln>
              <a:solidFill>
                <a:srgbClr val="0149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2" name="图片 51"/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180721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675890" y="217805"/>
            <a:ext cx="10386060" cy="439420"/>
            <a:chOff x="2965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 rot="2700000">
            <a:off x="274682" y="1321888"/>
            <a:ext cx="4310407" cy="4357605"/>
            <a:chOff x="3702725" y="2103564"/>
            <a:chExt cx="2161123" cy="2159044"/>
          </a:xfrm>
        </p:grpSpPr>
        <p:grpSp>
          <p:nvGrpSpPr>
            <p:cNvPr id="22" name="组合 21"/>
            <p:cNvGrpSpPr/>
            <p:nvPr/>
          </p:nvGrpSpPr>
          <p:grpSpPr>
            <a:xfrm>
              <a:off x="3702725" y="2103564"/>
              <a:ext cx="2161123" cy="2159044"/>
              <a:chOff x="3938516" y="1738792"/>
              <a:chExt cx="2161123" cy="2159044"/>
            </a:xfrm>
          </p:grpSpPr>
          <p:sp>
            <p:nvSpPr>
              <p:cNvPr id="11" name="Freeform 5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938516" y="1738792"/>
                <a:ext cx="2161123" cy="2159044"/>
              </a:xfrm>
              <a:custGeom>
                <a:avLst/>
                <a:gdLst>
                  <a:gd name="T0" fmla="*/ 740 w 1319"/>
                  <a:gd name="T1" fmla="*/ 1274 h 1318"/>
                  <a:gd name="T2" fmla="*/ 580 w 1319"/>
                  <a:gd name="T3" fmla="*/ 1274 h 1318"/>
                  <a:gd name="T4" fmla="*/ 45 w 1319"/>
                  <a:gd name="T5" fmla="*/ 739 h 1318"/>
                  <a:gd name="T6" fmla="*/ 45 w 1319"/>
                  <a:gd name="T7" fmla="*/ 579 h 1318"/>
                  <a:gd name="T8" fmla="*/ 580 w 1319"/>
                  <a:gd name="T9" fmla="*/ 44 h 1318"/>
                  <a:gd name="T10" fmla="*/ 740 w 1319"/>
                  <a:gd name="T11" fmla="*/ 44 h 1318"/>
                  <a:gd name="T12" fmla="*/ 1275 w 1319"/>
                  <a:gd name="T13" fmla="*/ 579 h 1318"/>
                  <a:gd name="T14" fmla="*/ 1275 w 1319"/>
                  <a:gd name="T15" fmla="*/ 739 h 1318"/>
                  <a:gd name="T16" fmla="*/ 740 w 1319"/>
                  <a:gd name="T17" fmla="*/ 1274 h 1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19" h="1318">
                    <a:moveTo>
                      <a:pt x="740" y="1274"/>
                    </a:moveTo>
                    <a:cubicBezTo>
                      <a:pt x="696" y="1318"/>
                      <a:pt x="624" y="1318"/>
                      <a:pt x="580" y="1274"/>
                    </a:cubicBezTo>
                    <a:cubicBezTo>
                      <a:pt x="45" y="739"/>
                      <a:pt x="45" y="739"/>
                      <a:pt x="45" y="739"/>
                    </a:cubicBezTo>
                    <a:cubicBezTo>
                      <a:pt x="0" y="695"/>
                      <a:pt x="0" y="623"/>
                      <a:pt x="45" y="579"/>
                    </a:cubicBezTo>
                    <a:cubicBezTo>
                      <a:pt x="580" y="44"/>
                      <a:pt x="580" y="44"/>
                      <a:pt x="580" y="44"/>
                    </a:cubicBezTo>
                    <a:cubicBezTo>
                      <a:pt x="624" y="0"/>
                      <a:pt x="696" y="0"/>
                      <a:pt x="740" y="44"/>
                    </a:cubicBezTo>
                    <a:cubicBezTo>
                      <a:pt x="1275" y="579"/>
                      <a:pt x="1275" y="579"/>
                      <a:pt x="1275" y="579"/>
                    </a:cubicBezTo>
                    <a:cubicBezTo>
                      <a:pt x="1319" y="623"/>
                      <a:pt x="1319" y="695"/>
                      <a:pt x="1275" y="739"/>
                    </a:cubicBezTo>
                    <a:lnTo>
                      <a:pt x="740" y="127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6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4080575" y="1879207"/>
                <a:ext cx="1256902" cy="930551"/>
              </a:xfrm>
              <a:custGeom>
                <a:avLst/>
                <a:gdLst>
                  <a:gd name="T0" fmla="*/ 639 w 767"/>
                  <a:gd name="T1" fmla="*/ 39 h 568"/>
                  <a:gd name="T2" fmla="*/ 498 w 767"/>
                  <a:gd name="T3" fmla="*/ 39 h 568"/>
                  <a:gd name="T4" fmla="*/ 29 w 767"/>
                  <a:gd name="T5" fmla="*/ 508 h 568"/>
                  <a:gd name="T6" fmla="*/ 0 w 767"/>
                  <a:gd name="T7" fmla="*/ 568 h 568"/>
                  <a:gd name="T8" fmla="*/ 365 w 767"/>
                  <a:gd name="T9" fmla="*/ 568 h 568"/>
                  <a:gd name="T10" fmla="*/ 767 w 767"/>
                  <a:gd name="T11" fmla="*/ 166 h 568"/>
                  <a:gd name="T12" fmla="*/ 639 w 767"/>
                  <a:gd name="T13" fmla="*/ 39 h 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7" h="568">
                    <a:moveTo>
                      <a:pt x="639" y="39"/>
                    </a:moveTo>
                    <a:cubicBezTo>
                      <a:pt x="600" y="0"/>
                      <a:pt x="537" y="0"/>
                      <a:pt x="498" y="39"/>
                    </a:cubicBezTo>
                    <a:cubicBezTo>
                      <a:pt x="29" y="508"/>
                      <a:pt x="29" y="508"/>
                      <a:pt x="29" y="508"/>
                    </a:cubicBezTo>
                    <a:cubicBezTo>
                      <a:pt x="12" y="525"/>
                      <a:pt x="3" y="546"/>
                      <a:pt x="0" y="568"/>
                    </a:cubicBezTo>
                    <a:cubicBezTo>
                      <a:pt x="365" y="568"/>
                      <a:pt x="365" y="568"/>
                      <a:pt x="365" y="568"/>
                    </a:cubicBezTo>
                    <a:cubicBezTo>
                      <a:pt x="767" y="166"/>
                      <a:pt x="767" y="166"/>
                      <a:pt x="767" y="166"/>
                    </a:cubicBezTo>
                    <a:lnTo>
                      <a:pt x="639" y="39"/>
                    </a:ln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</p:grpSp>
        <p:sp>
          <p:nvSpPr>
            <p:cNvPr id="24" name="TextBox 76"/>
            <p:cNvSpPr txBox="1"/>
            <p:nvPr>
              <p:custDataLst>
                <p:tags r:id="rId13"/>
              </p:custDataLst>
            </p:nvPr>
          </p:nvSpPr>
          <p:spPr>
            <a:xfrm rot="18913753">
              <a:off x="4064489" y="2665131"/>
              <a:ext cx="953902" cy="182989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800" dirty="0">
                  <a:solidFill>
                    <a:schemeClr val="bg1"/>
                  </a:solidFill>
                </a:rPr>
                <a:t>TF-IDF</a:t>
              </a:r>
              <a:r>
                <a:rPr lang="zh-CN" altLang="en-US" sz="1800" dirty="0">
                  <a:solidFill>
                    <a:schemeClr val="bg1"/>
                  </a:solidFill>
                </a:rPr>
                <a:t>特征构建</a:t>
              </a:r>
              <a:endParaRPr lang="en-US" altLang="zh-CN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组合 44"/>
          <p:cNvGrpSpPr/>
          <p:nvPr>
            <p:custDataLst>
              <p:tags r:id="rId2"/>
            </p:custDataLst>
          </p:nvPr>
        </p:nvGrpSpPr>
        <p:grpSpPr>
          <a:xfrm rot="2700000">
            <a:off x="7398353" y="1345239"/>
            <a:ext cx="4374316" cy="4352447"/>
            <a:chOff x="4969690" y="3285044"/>
            <a:chExt cx="2161816" cy="2161123"/>
          </a:xfrm>
        </p:grpSpPr>
        <p:grpSp>
          <p:nvGrpSpPr>
            <p:cNvPr id="21" name="组合 20"/>
            <p:cNvGrpSpPr/>
            <p:nvPr/>
          </p:nvGrpSpPr>
          <p:grpSpPr>
            <a:xfrm>
              <a:off x="4969690" y="3285044"/>
              <a:ext cx="2161816" cy="2161123"/>
              <a:chOff x="5029141" y="2994759"/>
              <a:chExt cx="2161816" cy="2161123"/>
            </a:xfrm>
          </p:grpSpPr>
          <p:sp>
            <p:nvSpPr>
              <p:cNvPr id="18" name="Freeform 12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5029141" y="2994759"/>
                <a:ext cx="2161816" cy="2161123"/>
              </a:xfrm>
              <a:custGeom>
                <a:avLst/>
                <a:gdLst>
                  <a:gd name="T0" fmla="*/ 740 w 1319"/>
                  <a:gd name="T1" fmla="*/ 1275 h 1319"/>
                  <a:gd name="T2" fmla="*/ 579 w 1319"/>
                  <a:gd name="T3" fmla="*/ 1275 h 1319"/>
                  <a:gd name="T4" fmla="*/ 44 w 1319"/>
                  <a:gd name="T5" fmla="*/ 740 h 1319"/>
                  <a:gd name="T6" fmla="*/ 44 w 1319"/>
                  <a:gd name="T7" fmla="*/ 580 h 1319"/>
                  <a:gd name="T8" fmla="*/ 579 w 1319"/>
                  <a:gd name="T9" fmla="*/ 45 h 1319"/>
                  <a:gd name="T10" fmla="*/ 740 w 1319"/>
                  <a:gd name="T11" fmla="*/ 45 h 1319"/>
                  <a:gd name="T12" fmla="*/ 1274 w 1319"/>
                  <a:gd name="T13" fmla="*/ 580 h 1319"/>
                  <a:gd name="T14" fmla="*/ 1274 w 1319"/>
                  <a:gd name="T15" fmla="*/ 740 h 1319"/>
                  <a:gd name="T16" fmla="*/ 740 w 1319"/>
                  <a:gd name="T17" fmla="*/ 1275 h 1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19" h="1319">
                    <a:moveTo>
                      <a:pt x="740" y="1275"/>
                    </a:moveTo>
                    <a:cubicBezTo>
                      <a:pt x="695" y="1319"/>
                      <a:pt x="623" y="1319"/>
                      <a:pt x="579" y="1275"/>
                    </a:cubicBezTo>
                    <a:cubicBezTo>
                      <a:pt x="44" y="740"/>
                      <a:pt x="44" y="740"/>
                      <a:pt x="44" y="740"/>
                    </a:cubicBezTo>
                    <a:cubicBezTo>
                      <a:pt x="0" y="696"/>
                      <a:pt x="0" y="624"/>
                      <a:pt x="44" y="580"/>
                    </a:cubicBezTo>
                    <a:cubicBezTo>
                      <a:pt x="579" y="45"/>
                      <a:pt x="579" y="45"/>
                      <a:pt x="579" y="45"/>
                    </a:cubicBezTo>
                    <a:cubicBezTo>
                      <a:pt x="623" y="0"/>
                      <a:pt x="695" y="0"/>
                      <a:pt x="740" y="45"/>
                    </a:cubicBezTo>
                    <a:cubicBezTo>
                      <a:pt x="1274" y="580"/>
                      <a:pt x="1274" y="580"/>
                      <a:pt x="1274" y="580"/>
                    </a:cubicBezTo>
                    <a:cubicBezTo>
                      <a:pt x="1319" y="624"/>
                      <a:pt x="1319" y="696"/>
                      <a:pt x="1274" y="740"/>
                    </a:cubicBezTo>
                    <a:lnTo>
                      <a:pt x="740" y="127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13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5178805" y="3127794"/>
                <a:ext cx="1254823" cy="930551"/>
              </a:xfrm>
              <a:custGeom>
                <a:avLst/>
                <a:gdLst>
                  <a:gd name="T0" fmla="*/ 639 w 766"/>
                  <a:gd name="T1" fmla="*/ 39 h 568"/>
                  <a:gd name="T2" fmla="*/ 498 w 766"/>
                  <a:gd name="T3" fmla="*/ 39 h 568"/>
                  <a:gd name="T4" fmla="*/ 28 w 766"/>
                  <a:gd name="T5" fmla="*/ 508 h 568"/>
                  <a:gd name="T6" fmla="*/ 0 w 766"/>
                  <a:gd name="T7" fmla="*/ 568 h 568"/>
                  <a:gd name="T8" fmla="*/ 364 w 766"/>
                  <a:gd name="T9" fmla="*/ 568 h 568"/>
                  <a:gd name="T10" fmla="*/ 766 w 766"/>
                  <a:gd name="T11" fmla="*/ 166 h 568"/>
                  <a:gd name="T12" fmla="*/ 639 w 766"/>
                  <a:gd name="T13" fmla="*/ 39 h 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6" h="568">
                    <a:moveTo>
                      <a:pt x="639" y="39"/>
                    </a:moveTo>
                    <a:cubicBezTo>
                      <a:pt x="600" y="0"/>
                      <a:pt x="537" y="0"/>
                      <a:pt x="498" y="39"/>
                    </a:cubicBezTo>
                    <a:cubicBezTo>
                      <a:pt x="28" y="508"/>
                      <a:pt x="28" y="508"/>
                      <a:pt x="28" y="508"/>
                    </a:cubicBezTo>
                    <a:cubicBezTo>
                      <a:pt x="12" y="525"/>
                      <a:pt x="2" y="546"/>
                      <a:pt x="0" y="568"/>
                    </a:cubicBezTo>
                    <a:cubicBezTo>
                      <a:pt x="364" y="568"/>
                      <a:pt x="364" y="568"/>
                      <a:pt x="364" y="568"/>
                    </a:cubicBezTo>
                    <a:cubicBezTo>
                      <a:pt x="766" y="166"/>
                      <a:pt x="766" y="166"/>
                      <a:pt x="766" y="166"/>
                    </a:cubicBezTo>
                    <a:lnTo>
                      <a:pt x="639" y="39"/>
                    </a:ln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</p:grpSp>
        <p:sp>
          <p:nvSpPr>
            <p:cNvPr id="25" name="TextBox 76"/>
            <p:cNvSpPr txBox="1"/>
            <p:nvPr>
              <p:custDataLst>
                <p:tags r:id="rId10"/>
              </p:custDataLst>
            </p:nvPr>
          </p:nvSpPr>
          <p:spPr>
            <a:xfrm rot="18913753">
              <a:off x="5433492" y="3787549"/>
              <a:ext cx="699680" cy="229229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2400" dirty="0">
                  <a:solidFill>
                    <a:schemeClr val="bg1"/>
                  </a:solidFill>
                </a:rPr>
                <a:t>最终拼接</a:t>
              </a:r>
            </a:p>
          </p:txBody>
        </p:sp>
      </p:grpSp>
      <p:grpSp>
        <p:nvGrpSpPr>
          <p:cNvPr id="46" name="组合 45"/>
          <p:cNvGrpSpPr/>
          <p:nvPr>
            <p:custDataLst>
              <p:tags r:id="rId3"/>
            </p:custDataLst>
          </p:nvPr>
        </p:nvGrpSpPr>
        <p:grpSpPr>
          <a:xfrm rot="2700000">
            <a:off x="3784154" y="1335208"/>
            <a:ext cx="4228764" cy="4271127"/>
            <a:chOff x="6131666" y="2038535"/>
            <a:chExt cx="2161816" cy="2159044"/>
          </a:xfrm>
        </p:grpSpPr>
        <p:grpSp>
          <p:nvGrpSpPr>
            <p:cNvPr id="20" name="组合 19"/>
            <p:cNvGrpSpPr/>
            <p:nvPr/>
          </p:nvGrpSpPr>
          <p:grpSpPr>
            <a:xfrm>
              <a:off x="6131666" y="2038535"/>
              <a:ext cx="2161816" cy="2159044"/>
              <a:chOff x="6119056" y="1748250"/>
              <a:chExt cx="2161816" cy="2159044"/>
            </a:xfrm>
          </p:grpSpPr>
          <p:sp>
            <p:nvSpPr>
              <p:cNvPr id="13" name="Freeform 7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6119056" y="1748250"/>
                <a:ext cx="2161816" cy="2159044"/>
              </a:xfrm>
              <a:custGeom>
                <a:avLst/>
                <a:gdLst>
                  <a:gd name="T0" fmla="*/ 740 w 1319"/>
                  <a:gd name="T1" fmla="*/ 1274 h 1318"/>
                  <a:gd name="T2" fmla="*/ 579 w 1319"/>
                  <a:gd name="T3" fmla="*/ 1274 h 1318"/>
                  <a:gd name="T4" fmla="*/ 44 w 1319"/>
                  <a:gd name="T5" fmla="*/ 739 h 1318"/>
                  <a:gd name="T6" fmla="*/ 44 w 1319"/>
                  <a:gd name="T7" fmla="*/ 579 h 1318"/>
                  <a:gd name="T8" fmla="*/ 579 w 1319"/>
                  <a:gd name="T9" fmla="*/ 44 h 1318"/>
                  <a:gd name="T10" fmla="*/ 740 w 1319"/>
                  <a:gd name="T11" fmla="*/ 44 h 1318"/>
                  <a:gd name="T12" fmla="*/ 1275 w 1319"/>
                  <a:gd name="T13" fmla="*/ 579 h 1318"/>
                  <a:gd name="T14" fmla="*/ 1275 w 1319"/>
                  <a:gd name="T15" fmla="*/ 739 h 1318"/>
                  <a:gd name="T16" fmla="*/ 740 w 1319"/>
                  <a:gd name="T17" fmla="*/ 1274 h 1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19" h="1318">
                    <a:moveTo>
                      <a:pt x="740" y="1274"/>
                    </a:moveTo>
                    <a:cubicBezTo>
                      <a:pt x="695" y="1318"/>
                      <a:pt x="624" y="1318"/>
                      <a:pt x="579" y="1274"/>
                    </a:cubicBezTo>
                    <a:cubicBezTo>
                      <a:pt x="44" y="739"/>
                      <a:pt x="44" y="739"/>
                      <a:pt x="44" y="739"/>
                    </a:cubicBezTo>
                    <a:cubicBezTo>
                      <a:pt x="0" y="695"/>
                      <a:pt x="0" y="623"/>
                      <a:pt x="44" y="579"/>
                    </a:cubicBezTo>
                    <a:cubicBezTo>
                      <a:pt x="579" y="44"/>
                      <a:pt x="579" y="44"/>
                      <a:pt x="579" y="44"/>
                    </a:cubicBezTo>
                    <a:cubicBezTo>
                      <a:pt x="624" y="0"/>
                      <a:pt x="695" y="0"/>
                      <a:pt x="740" y="44"/>
                    </a:cubicBezTo>
                    <a:cubicBezTo>
                      <a:pt x="1275" y="579"/>
                      <a:pt x="1275" y="579"/>
                      <a:pt x="1275" y="579"/>
                    </a:cubicBezTo>
                    <a:cubicBezTo>
                      <a:pt x="1319" y="623"/>
                      <a:pt x="1319" y="695"/>
                      <a:pt x="1275" y="739"/>
                    </a:cubicBezTo>
                    <a:lnTo>
                      <a:pt x="740" y="127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11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6268028" y="1879207"/>
                <a:ext cx="1255516" cy="930551"/>
              </a:xfrm>
              <a:custGeom>
                <a:avLst/>
                <a:gdLst>
                  <a:gd name="T0" fmla="*/ 639 w 766"/>
                  <a:gd name="T1" fmla="*/ 39 h 568"/>
                  <a:gd name="T2" fmla="*/ 498 w 766"/>
                  <a:gd name="T3" fmla="*/ 39 h 568"/>
                  <a:gd name="T4" fmla="*/ 28 w 766"/>
                  <a:gd name="T5" fmla="*/ 508 h 568"/>
                  <a:gd name="T6" fmla="*/ 0 w 766"/>
                  <a:gd name="T7" fmla="*/ 568 h 568"/>
                  <a:gd name="T8" fmla="*/ 365 w 766"/>
                  <a:gd name="T9" fmla="*/ 568 h 568"/>
                  <a:gd name="T10" fmla="*/ 766 w 766"/>
                  <a:gd name="T11" fmla="*/ 166 h 568"/>
                  <a:gd name="T12" fmla="*/ 639 w 766"/>
                  <a:gd name="T13" fmla="*/ 39 h 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6" h="568">
                    <a:moveTo>
                      <a:pt x="639" y="39"/>
                    </a:moveTo>
                    <a:cubicBezTo>
                      <a:pt x="600" y="0"/>
                      <a:pt x="537" y="0"/>
                      <a:pt x="498" y="39"/>
                    </a:cubicBezTo>
                    <a:cubicBezTo>
                      <a:pt x="28" y="508"/>
                      <a:pt x="28" y="508"/>
                      <a:pt x="28" y="508"/>
                    </a:cubicBezTo>
                    <a:cubicBezTo>
                      <a:pt x="12" y="525"/>
                      <a:pt x="2" y="546"/>
                      <a:pt x="0" y="568"/>
                    </a:cubicBezTo>
                    <a:cubicBezTo>
                      <a:pt x="365" y="568"/>
                      <a:pt x="365" y="568"/>
                      <a:pt x="365" y="568"/>
                    </a:cubicBezTo>
                    <a:cubicBezTo>
                      <a:pt x="766" y="166"/>
                      <a:pt x="766" y="166"/>
                      <a:pt x="766" y="166"/>
                    </a:cubicBezTo>
                    <a:lnTo>
                      <a:pt x="639" y="39"/>
                    </a:ln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</p:grpSp>
        <p:sp>
          <p:nvSpPr>
            <p:cNvPr id="26" name="TextBox 76"/>
            <p:cNvSpPr txBox="1"/>
            <p:nvPr>
              <p:custDataLst>
                <p:tags r:id="rId7"/>
              </p:custDataLst>
            </p:nvPr>
          </p:nvSpPr>
          <p:spPr>
            <a:xfrm rot="18913753">
              <a:off x="6484854" y="2578446"/>
              <a:ext cx="920439" cy="186694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800" dirty="0">
                  <a:solidFill>
                    <a:schemeClr val="bg1"/>
                  </a:solidFill>
                </a:rPr>
                <a:t>结构性特征提取</a:t>
              </a:r>
            </a:p>
          </p:txBody>
        </p:sp>
      </p:grpSp>
      <p:sp>
        <p:nvSpPr>
          <p:cNvPr id="36" name="矩形 35"/>
          <p:cNvSpPr/>
          <p:nvPr>
            <p:custDataLst>
              <p:tags r:id="rId4"/>
            </p:custDataLst>
          </p:nvPr>
        </p:nvSpPr>
        <p:spPr>
          <a:xfrm>
            <a:off x="1009789" y="3310664"/>
            <a:ext cx="2740065" cy="1289901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 err="1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保留max_features</a:t>
            </a:r>
            <a:r>
              <a:rPr kumimoji="1" lang="en-US" altLang="zh-CN" dirty="0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=300的高频词，增强模型对高频重要词的语义理解能力。</a:t>
            </a:r>
          </a:p>
        </p:txBody>
      </p:sp>
      <p:sp>
        <p:nvSpPr>
          <p:cNvPr id="39" name="矩形 38"/>
          <p:cNvSpPr/>
          <p:nvPr>
            <p:custDataLst>
              <p:tags r:id="rId5"/>
            </p:custDataLst>
          </p:nvPr>
        </p:nvSpPr>
        <p:spPr>
          <a:xfrm>
            <a:off x="8151766" y="3156558"/>
            <a:ext cx="2670722" cy="1526183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将基于字嵌入的句子向量</a:t>
            </a:r>
            <a:r>
              <a:rPr kumimoji="1" lang="en-US" altLang="zh-CN" sz="1600" dirty="0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1" lang="zh-CN" altLang="en-US" sz="1600" dirty="0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“人工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特征</a:t>
            </a:r>
            <a:r>
              <a:rPr kumimoji="1" lang="zh-CN" altLang="en-US" sz="1600" dirty="0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和TF</a:t>
            </a:r>
            <a:r>
              <a:rPr kumimoji="1" lang="en-US" altLang="zh-CN" sz="1600" dirty="0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 </a:t>
            </a:r>
            <a:r>
              <a:rPr kumimoji="1" lang="en-US" altLang="zh-CN" sz="1600" dirty="0" err="1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IDF特征拼接，构成最终的输入特征full_vectors</a:t>
            </a:r>
            <a:r>
              <a:rPr kumimoji="1" lang="en-US" altLang="zh-CN" sz="1600" dirty="0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43" name="矩形 42"/>
          <p:cNvSpPr/>
          <p:nvPr>
            <p:custDataLst>
              <p:tags r:id="rId6"/>
            </p:custDataLst>
          </p:nvPr>
        </p:nvSpPr>
        <p:spPr>
          <a:xfrm>
            <a:off x="4488847" y="3120419"/>
            <a:ext cx="2738897" cy="1526183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提取文本中的URL数量、SnowNLP情感倾向、攻击性关键词命中次数等数值型特征，构成“人工特征向量</a:t>
            </a:r>
            <a:r>
              <a:rPr kumimoji="1" lang="en-US" altLang="zh-CN" sz="1600" dirty="0">
                <a:ln w="12700">
                  <a:noFill/>
                </a:ln>
                <a:solidFill>
                  <a:schemeClr val="bg2">
                    <a:lumMod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”。</a:t>
            </a:r>
            <a:endParaRPr kumimoji="1" lang="en-US" altLang="zh-CN" sz="1600" b="1" dirty="0">
              <a:ln w="12700">
                <a:noFill/>
              </a:ln>
              <a:solidFill>
                <a:schemeClr val="bg2">
                  <a:lumMod val="5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 rot="16200000">
            <a:off x="890905" y="1482274"/>
            <a:ext cx="1037771" cy="1037771"/>
          </a:xfrm>
          <a:prstGeom prst="blockArc">
            <a:avLst>
              <a:gd name="adj1" fmla="val 10800000"/>
              <a:gd name="adj2" fmla="val 21227996"/>
              <a:gd name="adj3" fmla="val 14139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824239" y="1447011"/>
            <a:ext cx="3917450" cy="4261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4771B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逻辑回归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824239" y="1863117"/>
            <a:ext cx="3917450" cy="8168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73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" panose="020B0400000000000000" charset="-122"/>
              </a:rPr>
              <a:t>逻辑回归是广泛应用的线性分类模型，具有良好的可解释性和稳定性。但该模型线性假设较强，在处理非线性边界、复杂语言结构和弱攻击语义时表现有限。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 rot="16200000">
            <a:off x="6437611" y="1482274"/>
            <a:ext cx="1037771" cy="1037771"/>
          </a:xfrm>
          <a:prstGeom prst="blockArc">
            <a:avLst>
              <a:gd name="adj1" fmla="val 10800000"/>
              <a:gd name="adj2" fmla="val 21227996"/>
              <a:gd name="adj3" fmla="val 14139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370945" y="1447011"/>
            <a:ext cx="3917450" cy="4261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92D05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支持向量机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70945" y="1863117"/>
            <a:ext cx="3917450" cy="8168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73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采用随机梯度下降训练的线性支持向量机模型，采用'hinge'作为损失函数，并启用class_weight='balanced'处理类别不均衡问题。但对隐含语义攻击建模能力较弱。</a:t>
            </a:r>
            <a:endParaRPr kumimoji="1"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标题 1"/>
          <p:cNvSpPr txBox="1"/>
          <p:nvPr/>
        </p:nvSpPr>
        <p:spPr>
          <a:xfrm rot="16200000">
            <a:off x="890905" y="3158669"/>
            <a:ext cx="1037771" cy="1037771"/>
          </a:xfrm>
          <a:prstGeom prst="blockArc">
            <a:avLst>
              <a:gd name="adj1" fmla="val 10800000"/>
              <a:gd name="adj2" fmla="val 21227996"/>
              <a:gd name="adj3" fmla="val 14139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824239" y="3123406"/>
            <a:ext cx="3917450" cy="4261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92D05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随机森林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824239" y="3539512"/>
            <a:ext cx="3917450" cy="8168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73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随机森林具有较强的特征建模能力和鲁棒性。但对于变体词、语义讽刺等文本表现力不足，且容易过拟合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73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标题 1"/>
          <p:cNvSpPr txBox="1"/>
          <p:nvPr/>
        </p:nvSpPr>
        <p:spPr>
          <a:xfrm rot="16200000">
            <a:off x="6437611" y="3158669"/>
            <a:ext cx="1037771" cy="1037771"/>
          </a:xfrm>
          <a:prstGeom prst="blockArc">
            <a:avLst>
              <a:gd name="adj1" fmla="val 10800000"/>
              <a:gd name="adj2" fmla="val 21227996"/>
              <a:gd name="adj3" fmla="val 14139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370945" y="3123406"/>
            <a:ext cx="3917450" cy="4261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4771B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XGBoost分类器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7370945" y="3539512"/>
            <a:ext cx="3917450" cy="8168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73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XGBoost是性能强大的梯度提升树模型，在综合表现上优于逻辑回归和随机森林，但训练速度不如后续的LightGBM。</a:t>
            </a:r>
            <a:endParaRPr kumimoji="1"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标题 1"/>
          <p:cNvSpPr txBox="1"/>
          <p:nvPr/>
        </p:nvSpPr>
        <p:spPr>
          <a:xfrm rot="16200000">
            <a:off x="890905" y="4835064"/>
            <a:ext cx="1037771" cy="1037771"/>
          </a:xfrm>
          <a:prstGeom prst="blockArc">
            <a:avLst>
              <a:gd name="adj1" fmla="val 10800000"/>
              <a:gd name="adj2" fmla="val 21227996"/>
              <a:gd name="adj3" fmla="val 14139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824239" y="4799801"/>
            <a:ext cx="3917450" cy="4261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4771B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LightGBM分类器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1824239" y="5215907"/>
            <a:ext cx="3917450" cy="8168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73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最终选用的模型为LightGBM，其优势包括更高的训练效率与更低的内存占用，原生支持类别不平衡处理，能有效利用高维稀疏特征和结构性统计特征。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标题 1"/>
          <p:cNvSpPr txBox="1"/>
          <p:nvPr/>
        </p:nvSpPr>
        <p:spPr>
          <a:xfrm>
            <a:off x="1092413" y="1683782"/>
            <a:ext cx="634754" cy="6347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1092414" y="3355686"/>
            <a:ext cx="634754" cy="63475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92413" y="5036572"/>
            <a:ext cx="634754" cy="6347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6639119" y="1683782"/>
            <a:ext cx="634754" cy="63475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6658544" y="3355686"/>
            <a:ext cx="634754" cy="6347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1291630" y="1873163"/>
            <a:ext cx="236320" cy="25599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1258486" y="3521760"/>
            <a:ext cx="302610" cy="302606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1261101" y="5199339"/>
            <a:ext cx="297378" cy="309220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ahLst/>
            <a:cxnLst/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6824233" y="1873163"/>
            <a:ext cx="264526" cy="255992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6840120" y="3545067"/>
            <a:ext cx="271602" cy="255992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6840120" y="3545067"/>
            <a:ext cx="271602" cy="255992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42" name="圆角矩形 41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701167" y="144940"/>
            <a:ext cx="221361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分类器选择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2971800" y="217805"/>
            <a:ext cx="10090150" cy="439420"/>
            <a:chOff x="2965397" y="217491"/>
            <a:chExt cx="10096500" cy="439541"/>
          </a:xfrm>
        </p:grpSpPr>
        <p:sp>
          <p:nvSpPr>
            <p:cNvPr id="46" name="圆角矩形 45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圆角矩形 46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>
            <p:custDataLst>
              <p:tags r:id="rId1"/>
            </p:custDataLst>
          </p:nvPr>
        </p:nvSpPr>
        <p:spPr>
          <a:xfrm>
            <a:off x="1149299" y="1200844"/>
            <a:ext cx="4416992" cy="2389062"/>
          </a:xfrm>
          <a:prstGeom prst="roundRect">
            <a:avLst>
              <a:gd name="adj" fmla="val 5390"/>
            </a:avLst>
          </a:prstGeom>
          <a:solidFill>
            <a:schemeClr val="bg1"/>
          </a:solidFill>
          <a:ln w="19050" cap="sq">
            <a:solidFill>
              <a:srgbClr val="014924"/>
            </a:solidFill>
            <a:miter/>
          </a:ln>
          <a:effectLst>
            <a:outerShdw blurRad="190500" dist="38100" dir="8100000" algn="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>
            <p:custDataLst>
              <p:tags r:id="rId2"/>
            </p:custDataLst>
          </p:nvPr>
        </p:nvSpPr>
        <p:spPr>
          <a:xfrm>
            <a:off x="6060241" y="1200844"/>
            <a:ext cx="4416992" cy="2389062"/>
          </a:xfrm>
          <a:prstGeom prst="roundRect">
            <a:avLst>
              <a:gd name="adj" fmla="val 5390"/>
            </a:avLst>
          </a:prstGeom>
          <a:solidFill>
            <a:schemeClr val="bg1"/>
          </a:solidFill>
          <a:ln w="19050" cap="sq">
            <a:solidFill>
              <a:srgbClr val="014924"/>
            </a:solidFill>
            <a:miter/>
          </a:ln>
          <a:effectLst>
            <a:outerShdw blurRad="190500" dist="38100" dir="8100000" algn="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>
            <p:custDataLst>
              <p:tags r:id="rId3"/>
            </p:custDataLst>
          </p:nvPr>
        </p:nvSpPr>
        <p:spPr>
          <a:xfrm>
            <a:off x="1149299" y="3846638"/>
            <a:ext cx="4416992" cy="2389062"/>
          </a:xfrm>
          <a:prstGeom prst="roundRect">
            <a:avLst>
              <a:gd name="adj" fmla="val 5390"/>
            </a:avLst>
          </a:prstGeom>
          <a:solidFill>
            <a:schemeClr val="bg1"/>
          </a:solidFill>
          <a:ln w="19050" cap="sq">
            <a:solidFill>
              <a:srgbClr val="014924"/>
            </a:solidFill>
            <a:miter/>
          </a:ln>
          <a:effectLst>
            <a:outerShdw blurRad="190500" dist="38100" dir="8100000" algn="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>
            <p:custDataLst>
              <p:tags r:id="rId4"/>
            </p:custDataLst>
          </p:nvPr>
        </p:nvSpPr>
        <p:spPr>
          <a:xfrm>
            <a:off x="6060241" y="3846638"/>
            <a:ext cx="4416992" cy="2389062"/>
          </a:xfrm>
          <a:prstGeom prst="roundRect">
            <a:avLst>
              <a:gd name="adj" fmla="val 5390"/>
            </a:avLst>
          </a:prstGeom>
          <a:solidFill>
            <a:schemeClr val="bg1"/>
          </a:solidFill>
          <a:ln w="19050" cap="sq">
            <a:solidFill>
              <a:srgbClr val="014924"/>
            </a:solidFill>
            <a:miter/>
          </a:ln>
          <a:effectLst>
            <a:outerShdw blurRad="190500" dist="38100" dir="8100000" algn="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5"/>
            </p:custDataLst>
          </p:nvPr>
        </p:nvSpPr>
        <p:spPr>
          <a:xfrm>
            <a:off x="5559972" y="1991004"/>
            <a:ext cx="202696" cy="276777"/>
          </a:xfrm>
          <a:custGeom>
            <a:avLst/>
            <a:gdLst>
              <a:gd name="T0" fmla="*/ 82 w 82"/>
              <a:gd name="T1" fmla="*/ 56 h 112"/>
              <a:gd name="T2" fmla="*/ 0 w 82"/>
              <a:gd name="T3" fmla="*/ 112 h 112"/>
              <a:gd name="T4" fmla="*/ 0 w 82"/>
              <a:gd name="T5" fmla="*/ 0 h 112"/>
              <a:gd name="T6" fmla="*/ 82 w 82"/>
              <a:gd name="T7" fmla="*/ 56 h 112"/>
            </a:gdLst>
            <a:ahLst/>
            <a:cxnLst/>
            <a:rect l="0" t="0" r="r" b="b"/>
            <a:pathLst>
              <a:path w="82" h="112">
                <a:moveTo>
                  <a:pt x="82" y="56"/>
                </a:moveTo>
                <a:cubicBezTo>
                  <a:pt x="69" y="89"/>
                  <a:pt x="37" y="112"/>
                  <a:pt x="0" y="112"/>
                </a:cubicBezTo>
                <a:cubicBezTo>
                  <a:pt x="0" y="0"/>
                  <a:pt x="0" y="0"/>
                  <a:pt x="0" y="0"/>
                </a:cubicBezTo>
                <a:cubicBezTo>
                  <a:pt x="37" y="0"/>
                  <a:pt x="69" y="23"/>
                  <a:pt x="82" y="56"/>
                </a:cubicBezTo>
                <a:close/>
              </a:path>
            </a:pathLst>
          </a:custGeom>
          <a:solidFill>
            <a:srgbClr val="014924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>
            <p:custDataLst>
              <p:tags r:id="rId6"/>
            </p:custDataLst>
          </p:nvPr>
        </p:nvSpPr>
        <p:spPr>
          <a:xfrm>
            <a:off x="4565688" y="1425454"/>
            <a:ext cx="1201771" cy="786090"/>
          </a:xfrm>
          <a:custGeom>
            <a:avLst/>
            <a:gdLst>
              <a:gd name="T0" fmla="*/ 487 w 487"/>
              <a:gd name="T1" fmla="*/ 89 h 318"/>
              <a:gd name="T2" fmla="*/ 487 w 487"/>
              <a:gd name="T3" fmla="*/ 257 h 318"/>
              <a:gd name="T4" fmla="*/ 480 w 487"/>
              <a:gd name="T5" fmla="*/ 290 h 318"/>
              <a:gd name="T6" fmla="*/ 462 w 487"/>
              <a:gd name="T7" fmla="*/ 318 h 318"/>
              <a:gd name="T8" fmla="*/ 462 w 487"/>
              <a:gd name="T9" fmla="*/ 262 h 318"/>
              <a:gd name="T10" fmla="*/ 398 w 487"/>
              <a:gd name="T11" fmla="*/ 234 h 318"/>
              <a:gd name="T12" fmla="*/ 118 w 487"/>
              <a:gd name="T13" fmla="*/ 234 h 318"/>
              <a:gd name="T14" fmla="*/ 117 w 487"/>
              <a:gd name="T15" fmla="*/ 234 h 318"/>
              <a:gd name="T16" fmla="*/ 0 w 487"/>
              <a:gd name="T17" fmla="*/ 117 h 318"/>
              <a:gd name="T18" fmla="*/ 117 w 487"/>
              <a:gd name="T19" fmla="*/ 0 h 318"/>
              <a:gd name="T20" fmla="*/ 117 w 487"/>
              <a:gd name="T21" fmla="*/ 0 h 318"/>
              <a:gd name="T22" fmla="*/ 398 w 487"/>
              <a:gd name="T23" fmla="*/ 0 h 318"/>
              <a:gd name="T24" fmla="*/ 487 w 487"/>
              <a:gd name="T25" fmla="*/ 89 h 318"/>
            </a:gdLst>
            <a:ahLst/>
            <a:cxnLst/>
            <a:rect l="0" t="0" r="r" b="b"/>
            <a:pathLst>
              <a:path w="487" h="318">
                <a:moveTo>
                  <a:pt x="487" y="89"/>
                </a:moveTo>
                <a:cubicBezTo>
                  <a:pt x="487" y="257"/>
                  <a:pt x="487" y="257"/>
                  <a:pt x="487" y="257"/>
                </a:cubicBezTo>
                <a:cubicBezTo>
                  <a:pt x="487" y="269"/>
                  <a:pt x="484" y="280"/>
                  <a:pt x="480" y="290"/>
                </a:cubicBezTo>
                <a:cubicBezTo>
                  <a:pt x="476" y="301"/>
                  <a:pt x="470" y="310"/>
                  <a:pt x="462" y="318"/>
                </a:cubicBezTo>
                <a:cubicBezTo>
                  <a:pt x="477" y="303"/>
                  <a:pt x="477" y="278"/>
                  <a:pt x="462" y="262"/>
                </a:cubicBezTo>
                <a:cubicBezTo>
                  <a:pt x="446" y="245"/>
                  <a:pt x="423" y="234"/>
                  <a:pt x="398" y="234"/>
                </a:cubicBezTo>
                <a:cubicBezTo>
                  <a:pt x="118" y="234"/>
                  <a:pt x="118" y="234"/>
                  <a:pt x="118" y="234"/>
                </a:cubicBezTo>
                <a:cubicBezTo>
                  <a:pt x="117" y="234"/>
                  <a:pt x="117" y="234"/>
                  <a:pt x="117" y="234"/>
                </a:cubicBezTo>
                <a:cubicBezTo>
                  <a:pt x="53" y="234"/>
                  <a:pt x="0" y="182"/>
                  <a:pt x="0" y="117"/>
                </a:cubicBezTo>
                <a:cubicBezTo>
                  <a:pt x="0" y="52"/>
                  <a:pt x="53" y="0"/>
                  <a:pt x="117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398" y="0"/>
                  <a:pt x="398" y="0"/>
                  <a:pt x="398" y="0"/>
                </a:cubicBezTo>
                <a:cubicBezTo>
                  <a:pt x="447" y="0"/>
                  <a:pt x="487" y="39"/>
                  <a:pt x="487" y="89"/>
                </a:cubicBezTo>
                <a:close/>
              </a:path>
            </a:pathLst>
          </a:custGeom>
          <a:solidFill>
            <a:srgbClr val="014924"/>
          </a:solidFill>
          <a:ln cap="sq">
            <a:noFill/>
            <a:prstDash val="solid"/>
          </a:ln>
          <a:effectLst>
            <a:outerShdw blurRad="190500" dist="152400" dir="8520000" sx="94000" sy="94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7"/>
            </p:custDataLst>
          </p:nvPr>
        </p:nvSpPr>
        <p:spPr>
          <a:xfrm>
            <a:off x="4974753" y="1542031"/>
            <a:ext cx="571500" cy="330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13" name="标题 1"/>
          <p:cNvSpPr txBox="1"/>
          <p:nvPr>
            <p:custDataLst>
              <p:tags r:id="rId8"/>
            </p:custDataLst>
          </p:nvPr>
        </p:nvSpPr>
        <p:spPr>
          <a:xfrm>
            <a:off x="2962119" y="1325554"/>
            <a:ext cx="791352" cy="791352"/>
          </a:xfrm>
          <a:prstGeom prst="ellipse">
            <a:avLst/>
          </a:prstGeom>
          <a:solidFill>
            <a:schemeClr val="accent1">
              <a:alpha val="10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>
            <p:custDataLst>
              <p:tags r:id="rId9"/>
            </p:custDataLst>
          </p:nvPr>
        </p:nvSpPr>
        <p:spPr>
          <a:xfrm>
            <a:off x="3035296" y="1398732"/>
            <a:ext cx="644998" cy="644996"/>
          </a:xfrm>
          <a:prstGeom prst="ellipse">
            <a:avLst/>
          </a:prstGeom>
          <a:gradFill>
            <a:gsLst>
              <a:gs pos="100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blurRad="254000" dist="1270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10"/>
            </p:custDataLst>
          </p:nvPr>
        </p:nvSpPr>
        <p:spPr>
          <a:xfrm>
            <a:off x="1346185" y="2427688"/>
            <a:ext cx="4027570" cy="7780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采用中文预训练模型bert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 base-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chinese，并在其基础上添加轻量级全连接层组成最终分类器。使用BERT输出的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[CLS]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向量作为整体句向量，接入Dropout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(0.3)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降低过拟合风险，最后通过一层Linear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hidden_size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2)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实现二分类输出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标题 1"/>
          <p:cNvSpPr txBox="1"/>
          <p:nvPr>
            <p:custDataLst>
              <p:tags r:id="rId11"/>
            </p:custDataLst>
          </p:nvPr>
        </p:nvSpPr>
        <p:spPr>
          <a:xfrm>
            <a:off x="1325654" y="2083715"/>
            <a:ext cx="4048312" cy="5357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BERT模型结构设计</a:t>
            </a: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12"/>
            </p:custDataLst>
          </p:nvPr>
        </p:nvSpPr>
        <p:spPr>
          <a:xfrm>
            <a:off x="3209938" y="1573352"/>
            <a:ext cx="295715" cy="295757"/>
          </a:xfrm>
          <a:custGeom>
            <a:avLst/>
            <a:gdLst>
              <a:gd name="connsiteX0" fmla="*/ 579031 w 719895"/>
              <a:gd name="connsiteY0" fmla="*/ 554022 h 720000"/>
              <a:gd name="connsiteX1" fmla="*/ 596778 w 719895"/>
              <a:gd name="connsiteY1" fmla="*/ 561368 h 720000"/>
              <a:gd name="connsiteX2" fmla="*/ 712550 w 719895"/>
              <a:gd name="connsiteY2" fmla="*/ 677140 h 720000"/>
              <a:gd name="connsiteX3" fmla="*/ 712550 w 719895"/>
              <a:gd name="connsiteY3" fmla="*/ 712634 h 720000"/>
              <a:gd name="connsiteX4" fmla="*/ 694887 w 719895"/>
              <a:gd name="connsiteY4" fmla="*/ 720000 h 720000"/>
              <a:gd name="connsiteX5" fmla="*/ 677140 w 719895"/>
              <a:gd name="connsiteY5" fmla="*/ 712634 h 720000"/>
              <a:gd name="connsiteX6" fmla="*/ 561284 w 719895"/>
              <a:gd name="connsiteY6" fmla="*/ 596861 h 720000"/>
              <a:gd name="connsiteX7" fmla="*/ 561284 w 719895"/>
              <a:gd name="connsiteY7" fmla="*/ 561368 h 720000"/>
              <a:gd name="connsiteX8" fmla="*/ 579031 w 719895"/>
              <a:gd name="connsiteY8" fmla="*/ 554022 h 720000"/>
              <a:gd name="connsiteX9" fmla="*/ 301109 w 719895"/>
              <a:gd name="connsiteY9" fmla="*/ 0 h 720000"/>
              <a:gd name="connsiteX10" fmla="*/ 602219 w 719895"/>
              <a:gd name="connsiteY10" fmla="*/ 301109 h 720000"/>
              <a:gd name="connsiteX11" fmla="*/ 301109 w 719895"/>
              <a:gd name="connsiteY11" fmla="*/ 602219 h 720000"/>
              <a:gd name="connsiteX12" fmla="*/ 0 w 719895"/>
              <a:gd name="connsiteY12" fmla="*/ 301109 h 720000"/>
              <a:gd name="connsiteX13" fmla="*/ 301109 w 719895"/>
              <a:gd name="connsiteY13" fmla="*/ 0 h 720000"/>
            </a:gdLst>
            <a:ahLst/>
            <a:cxnLst/>
            <a:rect l="l" t="t" r="r" b="b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solidFill>
            <a:schemeClr val="bg1"/>
          </a:solidFill>
          <a:ln w="296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>
            <p:custDataLst>
              <p:tags r:id="rId13"/>
            </p:custDataLst>
          </p:nvPr>
        </p:nvSpPr>
        <p:spPr>
          <a:xfrm>
            <a:off x="7868143" y="1325554"/>
            <a:ext cx="791352" cy="791352"/>
          </a:xfrm>
          <a:prstGeom prst="ellipse">
            <a:avLst/>
          </a:prstGeom>
          <a:solidFill>
            <a:schemeClr val="accent1">
              <a:alpha val="10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>
            <p:custDataLst>
              <p:tags r:id="rId14"/>
            </p:custDataLst>
          </p:nvPr>
        </p:nvSpPr>
        <p:spPr>
          <a:xfrm>
            <a:off x="7941320" y="1398732"/>
            <a:ext cx="644998" cy="644996"/>
          </a:xfrm>
          <a:prstGeom prst="ellipse">
            <a:avLst/>
          </a:prstGeom>
          <a:gradFill>
            <a:gsLst>
              <a:gs pos="100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blurRad="254000" dist="1270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>
            <p:custDataLst>
              <p:tags r:id="rId15"/>
            </p:custDataLst>
          </p:nvPr>
        </p:nvSpPr>
        <p:spPr>
          <a:xfrm>
            <a:off x="6257078" y="2514925"/>
            <a:ext cx="4027570" cy="8491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训练完成后，模型对测试集逐条预测，并输出属于欺凌评论的概率值。通过softmax得到二维概率向量后，保留第二类的概率用于融合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标题 1"/>
          <p:cNvSpPr txBox="1"/>
          <p:nvPr>
            <p:custDataLst>
              <p:tags r:id="rId16"/>
            </p:custDataLst>
          </p:nvPr>
        </p:nvSpPr>
        <p:spPr>
          <a:xfrm>
            <a:off x="6231678" y="2083715"/>
            <a:ext cx="4022912" cy="5357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BERT模型预测</a:t>
            </a:r>
            <a:endParaRPr kumimoji="1" lang="zh-CN" altLang="en-US" dirty="0"/>
          </a:p>
        </p:txBody>
      </p:sp>
      <p:sp>
        <p:nvSpPr>
          <p:cNvPr id="22" name="标题 1"/>
          <p:cNvSpPr txBox="1"/>
          <p:nvPr>
            <p:custDataLst>
              <p:tags r:id="rId17"/>
            </p:custDataLst>
          </p:nvPr>
        </p:nvSpPr>
        <p:spPr>
          <a:xfrm>
            <a:off x="1329675" y="5149579"/>
            <a:ext cx="4027570" cy="78609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采用加权平均融合策略（Soft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Voting），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设置权重系数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α=0.6，即结构模型占比略高</a:t>
            </a:r>
            <a:r>
              <a:rPr kumimoji="1" lang="zh-CN" altLang="en-US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，构成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最终预测标签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标题 1"/>
          <p:cNvSpPr txBox="1"/>
          <p:nvPr>
            <p:custDataLst>
              <p:tags r:id="rId18"/>
            </p:custDataLst>
          </p:nvPr>
        </p:nvSpPr>
        <p:spPr>
          <a:xfrm>
            <a:off x="1325654" y="4728131"/>
            <a:ext cx="4035612" cy="5357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融合策略设计</a:t>
            </a:r>
            <a:endParaRPr kumimoji="1" lang="zh-CN" altLang="en-US"/>
          </a:p>
        </p:txBody>
      </p:sp>
      <p:sp>
        <p:nvSpPr>
          <p:cNvPr id="24" name="标题 1"/>
          <p:cNvSpPr txBox="1"/>
          <p:nvPr>
            <p:custDataLst>
              <p:tags r:id="rId19"/>
            </p:custDataLst>
          </p:nvPr>
        </p:nvSpPr>
        <p:spPr>
          <a:xfrm>
            <a:off x="7868143" y="3906470"/>
            <a:ext cx="791352" cy="791352"/>
          </a:xfrm>
          <a:prstGeom prst="ellipse">
            <a:avLst/>
          </a:prstGeom>
          <a:solidFill>
            <a:schemeClr val="accent1">
              <a:alpha val="10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>
            <p:custDataLst>
              <p:tags r:id="rId20"/>
            </p:custDataLst>
          </p:nvPr>
        </p:nvSpPr>
        <p:spPr>
          <a:xfrm>
            <a:off x="7941320" y="3979648"/>
            <a:ext cx="644998" cy="644996"/>
          </a:xfrm>
          <a:prstGeom prst="ellipse">
            <a:avLst/>
          </a:prstGeom>
          <a:gradFill>
            <a:gsLst>
              <a:gs pos="100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blurRad="254000" dist="1270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>
            <p:custDataLst>
              <p:tags r:id="rId21"/>
            </p:custDataLst>
          </p:nvPr>
        </p:nvSpPr>
        <p:spPr>
          <a:xfrm>
            <a:off x="6250034" y="5180716"/>
            <a:ext cx="4027570" cy="78609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zh-CN" altLang="en-US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加入正则化系数，对模型的参数进行约束，防止模型过拟合。指定任务类型为二分类，调整最大叶子结点数等。</a:t>
            </a:r>
          </a:p>
        </p:txBody>
      </p:sp>
      <p:sp>
        <p:nvSpPr>
          <p:cNvPr id="27" name="标题 1"/>
          <p:cNvSpPr txBox="1"/>
          <p:nvPr>
            <p:custDataLst>
              <p:tags r:id="rId22"/>
            </p:custDataLst>
          </p:nvPr>
        </p:nvSpPr>
        <p:spPr>
          <a:xfrm>
            <a:off x="6257078" y="4728131"/>
            <a:ext cx="4022912" cy="5357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LightGBM</a:t>
            </a: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调参</a:t>
            </a:r>
            <a:endParaRPr kumimoji="1" lang="zh-CN" altLang="en-US" dirty="0"/>
          </a:p>
        </p:txBody>
      </p:sp>
      <p:sp>
        <p:nvSpPr>
          <p:cNvPr id="28" name="标题 1"/>
          <p:cNvSpPr txBox="1"/>
          <p:nvPr>
            <p:custDataLst>
              <p:tags r:id="rId23"/>
            </p:custDataLst>
          </p:nvPr>
        </p:nvSpPr>
        <p:spPr>
          <a:xfrm>
            <a:off x="5559972" y="4598600"/>
            <a:ext cx="202696" cy="276777"/>
          </a:xfrm>
          <a:custGeom>
            <a:avLst/>
            <a:gdLst>
              <a:gd name="T0" fmla="*/ 82 w 82"/>
              <a:gd name="T1" fmla="*/ 56 h 112"/>
              <a:gd name="T2" fmla="*/ 0 w 82"/>
              <a:gd name="T3" fmla="*/ 112 h 112"/>
              <a:gd name="T4" fmla="*/ 0 w 82"/>
              <a:gd name="T5" fmla="*/ 0 h 112"/>
              <a:gd name="T6" fmla="*/ 82 w 82"/>
              <a:gd name="T7" fmla="*/ 56 h 112"/>
            </a:gdLst>
            <a:ahLst/>
            <a:cxnLst/>
            <a:rect l="0" t="0" r="r" b="b"/>
            <a:pathLst>
              <a:path w="82" h="112">
                <a:moveTo>
                  <a:pt x="82" y="56"/>
                </a:moveTo>
                <a:cubicBezTo>
                  <a:pt x="69" y="89"/>
                  <a:pt x="37" y="112"/>
                  <a:pt x="0" y="112"/>
                </a:cubicBezTo>
                <a:cubicBezTo>
                  <a:pt x="0" y="0"/>
                  <a:pt x="0" y="0"/>
                  <a:pt x="0" y="0"/>
                </a:cubicBezTo>
                <a:cubicBezTo>
                  <a:pt x="37" y="0"/>
                  <a:pt x="69" y="23"/>
                  <a:pt x="82" y="56"/>
                </a:cubicBezTo>
                <a:close/>
              </a:path>
            </a:pathLst>
          </a:custGeom>
          <a:solidFill>
            <a:srgbClr val="014924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>
            <p:custDataLst>
              <p:tags r:id="rId24"/>
            </p:custDataLst>
          </p:nvPr>
        </p:nvSpPr>
        <p:spPr>
          <a:xfrm>
            <a:off x="4565688" y="4033050"/>
            <a:ext cx="1201771" cy="786090"/>
          </a:xfrm>
          <a:custGeom>
            <a:avLst/>
            <a:gdLst>
              <a:gd name="T0" fmla="*/ 487 w 487"/>
              <a:gd name="T1" fmla="*/ 89 h 318"/>
              <a:gd name="T2" fmla="*/ 487 w 487"/>
              <a:gd name="T3" fmla="*/ 257 h 318"/>
              <a:gd name="T4" fmla="*/ 480 w 487"/>
              <a:gd name="T5" fmla="*/ 290 h 318"/>
              <a:gd name="T6" fmla="*/ 462 w 487"/>
              <a:gd name="T7" fmla="*/ 318 h 318"/>
              <a:gd name="T8" fmla="*/ 462 w 487"/>
              <a:gd name="T9" fmla="*/ 262 h 318"/>
              <a:gd name="T10" fmla="*/ 398 w 487"/>
              <a:gd name="T11" fmla="*/ 234 h 318"/>
              <a:gd name="T12" fmla="*/ 118 w 487"/>
              <a:gd name="T13" fmla="*/ 234 h 318"/>
              <a:gd name="T14" fmla="*/ 117 w 487"/>
              <a:gd name="T15" fmla="*/ 234 h 318"/>
              <a:gd name="T16" fmla="*/ 0 w 487"/>
              <a:gd name="T17" fmla="*/ 117 h 318"/>
              <a:gd name="T18" fmla="*/ 117 w 487"/>
              <a:gd name="T19" fmla="*/ 0 h 318"/>
              <a:gd name="T20" fmla="*/ 117 w 487"/>
              <a:gd name="T21" fmla="*/ 0 h 318"/>
              <a:gd name="T22" fmla="*/ 398 w 487"/>
              <a:gd name="T23" fmla="*/ 0 h 318"/>
              <a:gd name="T24" fmla="*/ 487 w 487"/>
              <a:gd name="T25" fmla="*/ 89 h 318"/>
            </a:gdLst>
            <a:ahLst/>
            <a:cxnLst/>
            <a:rect l="0" t="0" r="r" b="b"/>
            <a:pathLst>
              <a:path w="487" h="318">
                <a:moveTo>
                  <a:pt x="487" y="89"/>
                </a:moveTo>
                <a:cubicBezTo>
                  <a:pt x="487" y="257"/>
                  <a:pt x="487" y="257"/>
                  <a:pt x="487" y="257"/>
                </a:cubicBezTo>
                <a:cubicBezTo>
                  <a:pt x="487" y="269"/>
                  <a:pt x="484" y="280"/>
                  <a:pt x="480" y="290"/>
                </a:cubicBezTo>
                <a:cubicBezTo>
                  <a:pt x="476" y="301"/>
                  <a:pt x="470" y="310"/>
                  <a:pt x="462" y="318"/>
                </a:cubicBezTo>
                <a:cubicBezTo>
                  <a:pt x="477" y="303"/>
                  <a:pt x="477" y="278"/>
                  <a:pt x="462" y="262"/>
                </a:cubicBezTo>
                <a:cubicBezTo>
                  <a:pt x="446" y="245"/>
                  <a:pt x="423" y="234"/>
                  <a:pt x="398" y="234"/>
                </a:cubicBezTo>
                <a:cubicBezTo>
                  <a:pt x="118" y="234"/>
                  <a:pt x="118" y="234"/>
                  <a:pt x="118" y="234"/>
                </a:cubicBezTo>
                <a:cubicBezTo>
                  <a:pt x="117" y="234"/>
                  <a:pt x="117" y="234"/>
                  <a:pt x="117" y="234"/>
                </a:cubicBezTo>
                <a:cubicBezTo>
                  <a:pt x="53" y="234"/>
                  <a:pt x="0" y="182"/>
                  <a:pt x="0" y="117"/>
                </a:cubicBezTo>
                <a:cubicBezTo>
                  <a:pt x="0" y="52"/>
                  <a:pt x="53" y="0"/>
                  <a:pt x="117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398" y="0"/>
                  <a:pt x="398" y="0"/>
                  <a:pt x="398" y="0"/>
                </a:cubicBezTo>
                <a:cubicBezTo>
                  <a:pt x="447" y="0"/>
                  <a:pt x="487" y="39"/>
                  <a:pt x="487" y="89"/>
                </a:cubicBezTo>
                <a:close/>
              </a:path>
            </a:pathLst>
          </a:custGeom>
          <a:solidFill>
            <a:srgbClr val="014924"/>
          </a:solidFill>
          <a:ln cap="sq">
            <a:noFill/>
            <a:prstDash val="solid"/>
          </a:ln>
          <a:effectLst>
            <a:outerShdw blurRad="190500" dist="152400" dir="8520000" sx="94000" sy="94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>
            <p:custDataLst>
              <p:tags r:id="rId25"/>
            </p:custDataLst>
          </p:nvPr>
        </p:nvSpPr>
        <p:spPr>
          <a:xfrm>
            <a:off x="4974753" y="4149627"/>
            <a:ext cx="571500" cy="330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03</a:t>
            </a:r>
            <a:endParaRPr kumimoji="1" lang="zh-CN" altLang="en-US"/>
          </a:p>
        </p:txBody>
      </p:sp>
      <p:sp>
        <p:nvSpPr>
          <p:cNvPr id="31" name="标题 1"/>
          <p:cNvSpPr txBox="1"/>
          <p:nvPr>
            <p:custDataLst>
              <p:tags r:id="rId26"/>
            </p:custDataLst>
          </p:nvPr>
        </p:nvSpPr>
        <p:spPr>
          <a:xfrm>
            <a:off x="10461752" y="1991004"/>
            <a:ext cx="202696" cy="276777"/>
          </a:xfrm>
          <a:custGeom>
            <a:avLst/>
            <a:gdLst>
              <a:gd name="T0" fmla="*/ 82 w 82"/>
              <a:gd name="T1" fmla="*/ 56 h 112"/>
              <a:gd name="T2" fmla="*/ 0 w 82"/>
              <a:gd name="T3" fmla="*/ 112 h 112"/>
              <a:gd name="T4" fmla="*/ 0 w 82"/>
              <a:gd name="T5" fmla="*/ 0 h 112"/>
              <a:gd name="T6" fmla="*/ 82 w 82"/>
              <a:gd name="T7" fmla="*/ 56 h 112"/>
            </a:gdLst>
            <a:ahLst/>
            <a:cxnLst/>
            <a:rect l="0" t="0" r="r" b="b"/>
            <a:pathLst>
              <a:path w="82" h="112">
                <a:moveTo>
                  <a:pt x="82" y="56"/>
                </a:moveTo>
                <a:cubicBezTo>
                  <a:pt x="69" y="89"/>
                  <a:pt x="37" y="112"/>
                  <a:pt x="0" y="112"/>
                </a:cubicBezTo>
                <a:cubicBezTo>
                  <a:pt x="0" y="0"/>
                  <a:pt x="0" y="0"/>
                  <a:pt x="0" y="0"/>
                </a:cubicBezTo>
                <a:cubicBezTo>
                  <a:pt x="37" y="0"/>
                  <a:pt x="69" y="23"/>
                  <a:pt x="82" y="56"/>
                </a:cubicBezTo>
                <a:close/>
              </a:path>
            </a:pathLst>
          </a:custGeom>
          <a:solidFill>
            <a:srgbClr val="014924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>
            <p:custDataLst>
              <p:tags r:id="rId27"/>
            </p:custDataLst>
          </p:nvPr>
        </p:nvSpPr>
        <p:spPr>
          <a:xfrm>
            <a:off x="9467468" y="1425454"/>
            <a:ext cx="1201771" cy="786090"/>
          </a:xfrm>
          <a:custGeom>
            <a:avLst/>
            <a:gdLst>
              <a:gd name="T0" fmla="*/ 487 w 487"/>
              <a:gd name="T1" fmla="*/ 89 h 318"/>
              <a:gd name="T2" fmla="*/ 487 w 487"/>
              <a:gd name="T3" fmla="*/ 257 h 318"/>
              <a:gd name="T4" fmla="*/ 480 w 487"/>
              <a:gd name="T5" fmla="*/ 290 h 318"/>
              <a:gd name="T6" fmla="*/ 462 w 487"/>
              <a:gd name="T7" fmla="*/ 318 h 318"/>
              <a:gd name="T8" fmla="*/ 462 w 487"/>
              <a:gd name="T9" fmla="*/ 262 h 318"/>
              <a:gd name="T10" fmla="*/ 398 w 487"/>
              <a:gd name="T11" fmla="*/ 234 h 318"/>
              <a:gd name="T12" fmla="*/ 118 w 487"/>
              <a:gd name="T13" fmla="*/ 234 h 318"/>
              <a:gd name="T14" fmla="*/ 117 w 487"/>
              <a:gd name="T15" fmla="*/ 234 h 318"/>
              <a:gd name="T16" fmla="*/ 0 w 487"/>
              <a:gd name="T17" fmla="*/ 117 h 318"/>
              <a:gd name="T18" fmla="*/ 117 w 487"/>
              <a:gd name="T19" fmla="*/ 0 h 318"/>
              <a:gd name="T20" fmla="*/ 117 w 487"/>
              <a:gd name="T21" fmla="*/ 0 h 318"/>
              <a:gd name="T22" fmla="*/ 398 w 487"/>
              <a:gd name="T23" fmla="*/ 0 h 318"/>
              <a:gd name="T24" fmla="*/ 487 w 487"/>
              <a:gd name="T25" fmla="*/ 89 h 318"/>
            </a:gdLst>
            <a:ahLst/>
            <a:cxnLst/>
            <a:rect l="0" t="0" r="r" b="b"/>
            <a:pathLst>
              <a:path w="487" h="318">
                <a:moveTo>
                  <a:pt x="487" y="89"/>
                </a:moveTo>
                <a:cubicBezTo>
                  <a:pt x="487" y="257"/>
                  <a:pt x="487" y="257"/>
                  <a:pt x="487" y="257"/>
                </a:cubicBezTo>
                <a:cubicBezTo>
                  <a:pt x="487" y="269"/>
                  <a:pt x="484" y="280"/>
                  <a:pt x="480" y="290"/>
                </a:cubicBezTo>
                <a:cubicBezTo>
                  <a:pt x="476" y="301"/>
                  <a:pt x="470" y="310"/>
                  <a:pt x="462" y="318"/>
                </a:cubicBezTo>
                <a:cubicBezTo>
                  <a:pt x="477" y="303"/>
                  <a:pt x="477" y="278"/>
                  <a:pt x="462" y="262"/>
                </a:cubicBezTo>
                <a:cubicBezTo>
                  <a:pt x="446" y="245"/>
                  <a:pt x="423" y="234"/>
                  <a:pt x="398" y="234"/>
                </a:cubicBezTo>
                <a:cubicBezTo>
                  <a:pt x="118" y="234"/>
                  <a:pt x="118" y="234"/>
                  <a:pt x="118" y="234"/>
                </a:cubicBezTo>
                <a:cubicBezTo>
                  <a:pt x="117" y="234"/>
                  <a:pt x="117" y="234"/>
                  <a:pt x="117" y="234"/>
                </a:cubicBezTo>
                <a:cubicBezTo>
                  <a:pt x="53" y="234"/>
                  <a:pt x="0" y="182"/>
                  <a:pt x="0" y="117"/>
                </a:cubicBezTo>
                <a:cubicBezTo>
                  <a:pt x="0" y="52"/>
                  <a:pt x="53" y="0"/>
                  <a:pt x="117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398" y="0"/>
                  <a:pt x="398" y="0"/>
                  <a:pt x="398" y="0"/>
                </a:cubicBezTo>
                <a:cubicBezTo>
                  <a:pt x="447" y="0"/>
                  <a:pt x="487" y="39"/>
                  <a:pt x="487" y="89"/>
                </a:cubicBezTo>
                <a:close/>
              </a:path>
            </a:pathLst>
          </a:custGeom>
          <a:solidFill>
            <a:srgbClr val="014924"/>
          </a:solidFill>
          <a:ln cap="sq">
            <a:noFill/>
            <a:prstDash val="solid"/>
          </a:ln>
          <a:effectLst>
            <a:outerShdw blurRad="190500" dist="152400" dir="8520000" sx="94000" sy="94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>
            <p:custDataLst>
              <p:tags r:id="rId28"/>
            </p:custDataLst>
          </p:nvPr>
        </p:nvSpPr>
        <p:spPr>
          <a:xfrm>
            <a:off x="9876533" y="1542031"/>
            <a:ext cx="571500" cy="330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02</a:t>
            </a:r>
            <a:endParaRPr kumimoji="1" lang="zh-CN" altLang="en-US"/>
          </a:p>
        </p:txBody>
      </p:sp>
      <p:sp>
        <p:nvSpPr>
          <p:cNvPr id="34" name="标题 1"/>
          <p:cNvSpPr txBox="1"/>
          <p:nvPr>
            <p:custDataLst>
              <p:tags r:id="rId29"/>
            </p:custDataLst>
          </p:nvPr>
        </p:nvSpPr>
        <p:spPr>
          <a:xfrm>
            <a:off x="10461752" y="4598600"/>
            <a:ext cx="202696" cy="276777"/>
          </a:xfrm>
          <a:custGeom>
            <a:avLst/>
            <a:gdLst>
              <a:gd name="T0" fmla="*/ 82 w 82"/>
              <a:gd name="T1" fmla="*/ 56 h 112"/>
              <a:gd name="T2" fmla="*/ 0 w 82"/>
              <a:gd name="T3" fmla="*/ 112 h 112"/>
              <a:gd name="T4" fmla="*/ 0 w 82"/>
              <a:gd name="T5" fmla="*/ 0 h 112"/>
              <a:gd name="T6" fmla="*/ 82 w 82"/>
              <a:gd name="T7" fmla="*/ 56 h 112"/>
            </a:gdLst>
            <a:ahLst/>
            <a:cxnLst/>
            <a:rect l="0" t="0" r="r" b="b"/>
            <a:pathLst>
              <a:path w="82" h="112">
                <a:moveTo>
                  <a:pt x="82" y="56"/>
                </a:moveTo>
                <a:cubicBezTo>
                  <a:pt x="69" y="89"/>
                  <a:pt x="37" y="112"/>
                  <a:pt x="0" y="112"/>
                </a:cubicBezTo>
                <a:cubicBezTo>
                  <a:pt x="0" y="0"/>
                  <a:pt x="0" y="0"/>
                  <a:pt x="0" y="0"/>
                </a:cubicBezTo>
                <a:cubicBezTo>
                  <a:pt x="37" y="0"/>
                  <a:pt x="69" y="23"/>
                  <a:pt x="82" y="56"/>
                </a:cubicBezTo>
                <a:close/>
              </a:path>
            </a:pathLst>
          </a:custGeom>
          <a:solidFill>
            <a:srgbClr val="014924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>
            <p:custDataLst>
              <p:tags r:id="rId30"/>
            </p:custDataLst>
          </p:nvPr>
        </p:nvSpPr>
        <p:spPr>
          <a:xfrm>
            <a:off x="9467468" y="4033050"/>
            <a:ext cx="1201771" cy="786090"/>
          </a:xfrm>
          <a:custGeom>
            <a:avLst/>
            <a:gdLst>
              <a:gd name="T0" fmla="*/ 487 w 487"/>
              <a:gd name="T1" fmla="*/ 89 h 318"/>
              <a:gd name="T2" fmla="*/ 487 w 487"/>
              <a:gd name="T3" fmla="*/ 257 h 318"/>
              <a:gd name="T4" fmla="*/ 480 w 487"/>
              <a:gd name="T5" fmla="*/ 290 h 318"/>
              <a:gd name="T6" fmla="*/ 462 w 487"/>
              <a:gd name="T7" fmla="*/ 318 h 318"/>
              <a:gd name="T8" fmla="*/ 462 w 487"/>
              <a:gd name="T9" fmla="*/ 262 h 318"/>
              <a:gd name="T10" fmla="*/ 398 w 487"/>
              <a:gd name="T11" fmla="*/ 234 h 318"/>
              <a:gd name="T12" fmla="*/ 118 w 487"/>
              <a:gd name="T13" fmla="*/ 234 h 318"/>
              <a:gd name="T14" fmla="*/ 117 w 487"/>
              <a:gd name="T15" fmla="*/ 234 h 318"/>
              <a:gd name="T16" fmla="*/ 0 w 487"/>
              <a:gd name="T17" fmla="*/ 117 h 318"/>
              <a:gd name="T18" fmla="*/ 117 w 487"/>
              <a:gd name="T19" fmla="*/ 0 h 318"/>
              <a:gd name="T20" fmla="*/ 117 w 487"/>
              <a:gd name="T21" fmla="*/ 0 h 318"/>
              <a:gd name="T22" fmla="*/ 398 w 487"/>
              <a:gd name="T23" fmla="*/ 0 h 318"/>
              <a:gd name="T24" fmla="*/ 487 w 487"/>
              <a:gd name="T25" fmla="*/ 89 h 318"/>
            </a:gdLst>
            <a:ahLst/>
            <a:cxnLst/>
            <a:rect l="0" t="0" r="r" b="b"/>
            <a:pathLst>
              <a:path w="487" h="318">
                <a:moveTo>
                  <a:pt x="487" y="89"/>
                </a:moveTo>
                <a:cubicBezTo>
                  <a:pt x="487" y="257"/>
                  <a:pt x="487" y="257"/>
                  <a:pt x="487" y="257"/>
                </a:cubicBezTo>
                <a:cubicBezTo>
                  <a:pt x="487" y="269"/>
                  <a:pt x="484" y="280"/>
                  <a:pt x="480" y="290"/>
                </a:cubicBezTo>
                <a:cubicBezTo>
                  <a:pt x="476" y="301"/>
                  <a:pt x="470" y="310"/>
                  <a:pt x="462" y="318"/>
                </a:cubicBezTo>
                <a:cubicBezTo>
                  <a:pt x="477" y="303"/>
                  <a:pt x="477" y="278"/>
                  <a:pt x="462" y="262"/>
                </a:cubicBezTo>
                <a:cubicBezTo>
                  <a:pt x="446" y="245"/>
                  <a:pt x="423" y="234"/>
                  <a:pt x="398" y="234"/>
                </a:cubicBezTo>
                <a:cubicBezTo>
                  <a:pt x="118" y="234"/>
                  <a:pt x="118" y="234"/>
                  <a:pt x="118" y="234"/>
                </a:cubicBezTo>
                <a:cubicBezTo>
                  <a:pt x="117" y="234"/>
                  <a:pt x="117" y="234"/>
                  <a:pt x="117" y="234"/>
                </a:cubicBezTo>
                <a:cubicBezTo>
                  <a:pt x="53" y="234"/>
                  <a:pt x="0" y="182"/>
                  <a:pt x="0" y="117"/>
                </a:cubicBezTo>
                <a:cubicBezTo>
                  <a:pt x="0" y="52"/>
                  <a:pt x="53" y="0"/>
                  <a:pt x="117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398" y="0"/>
                  <a:pt x="398" y="0"/>
                  <a:pt x="398" y="0"/>
                </a:cubicBezTo>
                <a:cubicBezTo>
                  <a:pt x="447" y="0"/>
                  <a:pt x="487" y="39"/>
                  <a:pt x="487" y="89"/>
                </a:cubicBezTo>
                <a:close/>
              </a:path>
            </a:pathLst>
          </a:custGeom>
          <a:solidFill>
            <a:srgbClr val="014924"/>
          </a:solidFill>
          <a:ln cap="sq">
            <a:noFill/>
            <a:prstDash val="solid"/>
          </a:ln>
          <a:effectLst>
            <a:outerShdw blurRad="190500" dist="152400" dir="8520000" sx="94000" sy="94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>
            <p:custDataLst>
              <p:tags r:id="rId31"/>
            </p:custDataLst>
          </p:nvPr>
        </p:nvSpPr>
        <p:spPr>
          <a:xfrm>
            <a:off x="9876533" y="4149627"/>
            <a:ext cx="571500" cy="330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04</a:t>
            </a:r>
            <a:endParaRPr kumimoji="1" lang="zh-CN" altLang="en-US"/>
          </a:p>
        </p:txBody>
      </p:sp>
      <p:sp>
        <p:nvSpPr>
          <p:cNvPr id="37" name="标题 1"/>
          <p:cNvSpPr txBox="1"/>
          <p:nvPr>
            <p:custDataLst>
              <p:tags r:id="rId32"/>
            </p:custDataLst>
          </p:nvPr>
        </p:nvSpPr>
        <p:spPr>
          <a:xfrm>
            <a:off x="2962119" y="3942958"/>
            <a:ext cx="791352" cy="791352"/>
          </a:xfrm>
          <a:prstGeom prst="ellipse">
            <a:avLst/>
          </a:prstGeom>
          <a:solidFill>
            <a:schemeClr val="accent1">
              <a:alpha val="10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8" name="标题 1"/>
          <p:cNvSpPr txBox="1"/>
          <p:nvPr>
            <p:custDataLst>
              <p:tags r:id="rId33"/>
            </p:custDataLst>
          </p:nvPr>
        </p:nvSpPr>
        <p:spPr>
          <a:xfrm>
            <a:off x="3035296" y="4016136"/>
            <a:ext cx="644998" cy="644996"/>
          </a:xfrm>
          <a:prstGeom prst="ellipse">
            <a:avLst/>
          </a:prstGeom>
          <a:gradFill>
            <a:gsLst>
              <a:gs pos="100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blurRad="254000" dist="1270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>
            <p:custDataLst>
              <p:tags r:id="rId34"/>
            </p:custDataLst>
          </p:nvPr>
        </p:nvSpPr>
        <p:spPr>
          <a:xfrm>
            <a:off x="8112308" y="1578428"/>
            <a:ext cx="303022" cy="285605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0" name="标题 1"/>
          <p:cNvSpPr txBox="1"/>
          <p:nvPr>
            <p:custDataLst>
              <p:tags r:id="rId35"/>
            </p:custDataLst>
          </p:nvPr>
        </p:nvSpPr>
        <p:spPr>
          <a:xfrm flipH="1" flipV="1">
            <a:off x="3198418" y="4184399"/>
            <a:ext cx="318754" cy="308470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ahLst/>
            <a:cxnLst/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chemeClr val="bg1"/>
          </a:solidFill>
          <a:ln w="296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1" name="标题 1"/>
          <p:cNvSpPr txBox="1"/>
          <p:nvPr>
            <p:custDataLst>
              <p:tags r:id="rId36"/>
            </p:custDataLst>
          </p:nvPr>
        </p:nvSpPr>
        <p:spPr>
          <a:xfrm>
            <a:off x="8124271" y="4157039"/>
            <a:ext cx="279097" cy="290215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 w="296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45" name="圆角矩形 4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701167" y="144940"/>
            <a:ext cx="180721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融合语义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49" name="圆角矩形 48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圆角矩形 49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2" name="图片 51"/>
          <p:cNvPicPr>
            <a:picLocks noChangeAspect="1"/>
          </p:cNvPicPr>
          <p:nvPr/>
        </p:nvPicPr>
        <p:blipFill rotWithShape="1"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14" name="圆角矩形 13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701167" y="144940"/>
            <a:ext cx="180721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676525" y="217805"/>
            <a:ext cx="11249025" cy="439420"/>
            <a:chOff x="3796505" y="217491"/>
            <a:chExt cx="10128992" cy="439541"/>
          </a:xfrm>
        </p:grpSpPr>
        <p:sp>
          <p:nvSpPr>
            <p:cNvPr id="13" name="圆角矩形 12"/>
            <p:cNvSpPr/>
            <p:nvPr/>
          </p:nvSpPr>
          <p:spPr>
            <a:xfrm>
              <a:off x="3796505" y="217491"/>
              <a:ext cx="8909791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 flipV="1">
              <a:off x="38416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grpSp>
        <p:nvGrpSpPr>
          <p:cNvPr id="77" name="组合 76"/>
          <p:cNvGrpSpPr/>
          <p:nvPr>
            <p:custDataLst>
              <p:tags r:id="rId1"/>
            </p:custDataLst>
          </p:nvPr>
        </p:nvGrpSpPr>
        <p:grpSpPr>
          <a:xfrm>
            <a:off x="700889" y="1267812"/>
            <a:ext cx="3940819" cy="367030"/>
            <a:chOff x="7797588" y="2228927"/>
            <a:chExt cx="3480011" cy="367030"/>
          </a:xfrm>
          <a:solidFill>
            <a:srgbClr val="C00000"/>
          </a:solidFill>
        </p:grpSpPr>
        <p:sp>
          <p:nvSpPr>
            <p:cNvPr id="78" name="矩形 77"/>
            <p:cNvSpPr/>
            <p:nvPr>
              <p:custDataLst>
                <p:tags r:id="rId11"/>
              </p:custDataLst>
            </p:nvPr>
          </p:nvSpPr>
          <p:spPr>
            <a:xfrm>
              <a:off x="7797588" y="2232930"/>
              <a:ext cx="3480011" cy="36000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文本框 78"/>
            <p:cNvSpPr txBox="1"/>
            <p:nvPr>
              <p:custDataLst>
                <p:tags r:id="rId12"/>
              </p:custDataLst>
            </p:nvPr>
          </p:nvSpPr>
          <p:spPr>
            <a:xfrm>
              <a:off x="7797588" y="2228927"/>
              <a:ext cx="967851" cy="36703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原有模型</a:t>
              </a:r>
            </a:p>
          </p:txBody>
        </p:sp>
      </p:grpSp>
      <p:pic>
        <p:nvPicPr>
          <p:cNvPr id="80" name="图片 7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1040" y="1861185"/>
            <a:ext cx="4333240" cy="1837055"/>
          </a:xfrm>
          <a:prstGeom prst="rect">
            <a:avLst/>
          </a:prstGeom>
        </p:spPr>
      </p:pic>
      <p:grpSp>
        <p:nvGrpSpPr>
          <p:cNvPr id="81" name="组合 80"/>
          <p:cNvGrpSpPr/>
          <p:nvPr>
            <p:custDataLst>
              <p:tags r:id="rId2"/>
            </p:custDataLst>
          </p:nvPr>
        </p:nvGrpSpPr>
        <p:grpSpPr>
          <a:xfrm>
            <a:off x="7141059" y="1270987"/>
            <a:ext cx="3940819" cy="367030"/>
            <a:chOff x="7797588" y="2228927"/>
            <a:chExt cx="3480011" cy="367030"/>
          </a:xfrm>
          <a:solidFill>
            <a:srgbClr val="C00000"/>
          </a:solidFill>
        </p:grpSpPr>
        <p:sp>
          <p:nvSpPr>
            <p:cNvPr id="82" name="矩形 81"/>
            <p:cNvSpPr/>
            <p:nvPr>
              <p:custDataLst>
                <p:tags r:id="rId9"/>
              </p:custDataLst>
            </p:nvPr>
          </p:nvSpPr>
          <p:spPr>
            <a:xfrm>
              <a:off x="7797588" y="2232930"/>
              <a:ext cx="3480011" cy="36000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文本框 82"/>
            <p:cNvSpPr txBox="1"/>
            <p:nvPr>
              <p:custDataLst>
                <p:tags r:id="rId10"/>
              </p:custDataLst>
            </p:nvPr>
          </p:nvSpPr>
          <p:spPr>
            <a:xfrm>
              <a:off x="7797588" y="2228927"/>
              <a:ext cx="1573459" cy="36703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加入特征工程后</a:t>
              </a:r>
            </a:p>
          </p:txBody>
        </p:sp>
      </p:grpSp>
      <p:pic>
        <p:nvPicPr>
          <p:cNvPr id="84" name="图片 8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1210" y="1722755"/>
            <a:ext cx="4152900" cy="2114550"/>
          </a:xfrm>
          <a:prstGeom prst="rect">
            <a:avLst/>
          </a:prstGeom>
        </p:spPr>
      </p:pic>
      <p:grpSp>
        <p:nvGrpSpPr>
          <p:cNvPr id="85" name="组合 84"/>
          <p:cNvGrpSpPr/>
          <p:nvPr>
            <p:custDataLst>
              <p:tags r:id="rId3"/>
            </p:custDataLst>
          </p:nvPr>
        </p:nvGrpSpPr>
        <p:grpSpPr>
          <a:xfrm>
            <a:off x="700889" y="4132297"/>
            <a:ext cx="3940819" cy="369328"/>
            <a:chOff x="7797588" y="2228927"/>
            <a:chExt cx="3480011" cy="369328"/>
          </a:xfrm>
          <a:solidFill>
            <a:srgbClr val="C00000"/>
          </a:solidFill>
        </p:grpSpPr>
        <p:sp>
          <p:nvSpPr>
            <p:cNvPr id="86" name="矩形 85"/>
            <p:cNvSpPr/>
            <p:nvPr>
              <p:custDataLst>
                <p:tags r:id="rId7"/>
              </p:custDataLst>
            </p:nvPr>
          </p:nvSpPr>
          <p:spPr>
            <a:xfrm>
              <a:off x="7797588" y="2232930"/>
              <a:ext cx="3480011" cy="36000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文本框 86"/>
            <p:cNvSpPr txBox="1"/>
            <p:nvPr>
              <p:custDataLst>
                <p:tags r:id="rId8"/>
              </p:custDataLst>
            </p:nvPr>
          </p:nvSpPr>
          <p:spPr>
            <a:xfrm>
              <a:off x="7797588" y="2228927"/>
              <a:ext cx="2817185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LightGBM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融合语义最终模型</a:t>
              </a:r>
            </a:p>
          </p:txBody>
        </p:sp>
      </p:grpSp>
      <p:pic>
        <p:nvPicPr>
          <p:cNvPr id="88" name="图片 8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" y="4684395"/>
            <a:ext cx="4612005" cy="2092960"/>
          </a:xfrm>
          <a:prstGeom prst="rect">
            <a:avLst/>
          </a:prstGeom>
        </p:spPr>
      </p:pic>
      <p:grpSp>
        <p:nvGrpSpPr>
          <p:cNvPr id="89" name="组合 88"/>
          <p:cNvGrpSpPr/>
          <p:nvPr>
            <p:custDataLst>
              <p:tags r:id="rId4"/>
            </p:custDataLst>
          </p:nvPr>
        </p:nvGrpSpPr>
        <p:grpSpPr>
          <a:xfrm>
            <a:off x="7141059" y="4135472"/>
            <a:ext cx="3940819" cy="369328"/>
            <a:chOff x="7797588" y="2228927"/>
            <a:chExt cx="3480011" cy="369328"/>
          </a:xfrm>
          <a:solidFill>
            <a:srgbClr val="C00000"/>
          </a:solidFill>
        </p:grpSpPr>
        <p:sp>
          <p:nvSpPr>
            <p:cNvPr id="90" name="矩形 89"/>
            <p:cNvSpPr/>
            <p:nvPr>
              <p:custDataLst>
                <p:tags r:id="rId5"/>
              </p:custDataLst>
            </p:nvPr>
          </p:nvSpPr>
          <p:spPr>
            <a:xfrm>
              <a:off x="7797588" y="2232930"/>
              <a:ext cx="3480011" cy="360000"/>
            </a:xfrm>
            <a:prstGeom prst="rect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/>
            <p:cNvSpPr txBox="1"/>
            <p:nvPr>
              <p:custDataLst>
                <p:tags r:id="rId6"/>
              </p:custDataLst>
            </p:nvPr>
          </p:nvSpPr>
          <p:spPr>
            <a:xfrm>
              <a:off x="7797588" y="2228927"/>
              <a:ext cx="3220676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泛化性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验证（原垃圾文本数据集）</a:t>
              </a:r>
              <a:endPara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92" name="图片 9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1210" y="4684395"/>
            <a:ext cx="4422775" cy="2028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6239" y="3909427"/>
            <a:ext cx="5119523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请指正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5" y="1196335"/>
            <a:ext cx="2439190" cy="2439192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804" y="1438170"/>
            <a:ext cx="1936392" cy="193081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3395275590551,&quot;left&quot;:136.8596062992126,&quot;top&quot;:99,&quot;width&quot;:823.140393700787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6.99999999999994,&quot;left&quot;:82.74811023622047,&quot;top&quot;:366.6629921259842,&quot;width&quot;:826.48267716535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6.99999999999994,&quot;left&quot;:82.74811023622047,&quot;top&quot;:366.6629921259842,&quot;width&quot;:826.4826771653543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2.94016038466498,&quot;left&quot;:82.74811023622047,&quot;top&quot;:409.36299212598425,&quot;width&quot;:826.4826771653543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2.94016038466498,&quot;left&quot;:82.74811023622047,&quot;top&quot;:409.36299212598425,&quot;width&quot;:826.4826771653543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6.99999999999994,&quot;left&quot;:82.74811023622047,&quot;top&quot;:366.6629921259842,&quot;width&quot;:826.482677165354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6.99999999999994,&quot;left&quot;:82.74811023622047,&quot;top&quot;:366.6629921259842,&quot;width&quot;:826.482677165354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6.99999999999994,&quot;left&quot;:82.74811023622047,&quot;top&quot;:366.6629921259842,&quot;width&quot;:826.482677165354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6.99999999999994,&quot;left&quot;:82.74811023622047,&quot;top&quot;:366.6629921259842,&quot;width&quot;:826.482677165354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6.99999999999994,&quot;left&quot;:82.74811023622047,&quot;top&quot;:366.6629921259842,&quot;width&quot;:826.482677165354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6.99999999999994,&quot;left&quot;:82.74811023622047,&quot;top&quot;:366.6629921259842,&quot;width&quot;:826.482677165354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84409448818894,&quot;left&quot;:110.99999999999997,&quot;top&quot;:118.323937007874,&quot;width&quot;:742.6872440944883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2.85557343476455,&quot;left&quot;:15.118384052246347,&quot;top&quot;:49.26838405224635,&quot;width&quot;:890.4979338951383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453543307087,&quot;left&quot;:90.49598425196851,&quot;top&quot;:94.55464566929133,&quot;width&quot;:749.6015748031496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189763779527,&quot;left&quot;:582.0673228346457,&quot;top&quot;:145.92771653543306,&quot;width&quot;:319.41015748031475}"/>
</p:tagLst>
</file>

<file path=ppt/theme/theme1.xml><?xml version="1.0" encoding="utf-8"?>
<a:theme xmlns:a="http://schemas.openxmlformats.org/drawingml/2006/main" name="Office 主题">
  <a:themeElements>
    <a:clrScheme name="绿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586</Words>
  <Application>Microsoft Office PowerPoint</Application>
  <PresentationFormat>宽屏</PresentationFormat>
  <Paragraphs>88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OPPOSans B</vt:lpstr>
      <vt:lpstr>Source Han Sans CN Bold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0022</dc:title>
  <dc:creator>ZK</dc:creator>
  <cp:lastModifiedBy>J S</cp:lastModifiedBy>
  <cp:revision>199</cp:revision>
  <dcterms:created xsi:type="dcterms:W3CDTF">2017-04-21T07:43:00Z</dcterms:created>
  <dcterms:modified xsi:type="dcterms:W3CDTF">2025-06-11T13:00:09Z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5875FF9CC886457BB07C5311677E7AE2_13</vt:lpwstr>
  </property>
</Properties>
</file>